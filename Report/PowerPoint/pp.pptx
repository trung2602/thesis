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Arial Bold" panose="020B0704020202020204" pitchFamily="34" charset="0"/>
      <p:regular r:id="rId19"/>
      <p:bold r:id="rId20"/>
    </p:embeddedFont>
    <p:embeddedFont>
      <p:font typeface="Sigmar One"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01" d="100"/>
          <a:sy n="101" d="100"/>
        </p:scale>
        <p:origin x="65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sv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6.svg"/><Relationship Id="rId4" Type="http://schemas.openxmlformats.org/officeDocument/2006/relationships/image" Target="../media/image25.sv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svg"/></Relationships>
</file>

<file path=ppt/slides/_rels/slide1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6.svg"/><Relationship Id="rId7" Type="http://schemas.openxmlformats.org/officeDocument/2006/relationships/image" Target="../media/image39.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svg"/><Relationship Id="rId5" Type="http://schemas.openxmlformats.org/officeDocument/2006/relationships/image" Target="../media/image38.svg"/><Relationship Id="rId4" Type="http://schemas.openxmlformats.org/officeDocument/2006/relationships/image" Target="../media/image37.svg"/></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033">
                <a:alpha val="100000"/>
              </a:srgbClr>
            </a:gs>
            <a:gs pos="100000">
              <a:srgbClr val="143993">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611867" y="7555357"/>
            <a:ext cx="19511734" cy="5463285"/>
          </a:xfrm>
          <a:custGeom>
            <a:avLst/>
            <a:gdLst/>
            <a:ahLst/>
            <a:cxnLst/>
            <a:rect l="l" t="t" r="r" b="b"/>
            <a:pathLst>
              <a:path w="19511734" h="5463285">
                <a:moveTo>
                  <a:pt x="0" y="0"/>
                </a:moveTo>
                <a:lnTo>
                  <a:pt x="19511734" y="0"/>
                </a:lnTo>
                <a:lnTo>
                  <a:pt x="19511734" y="5463286"/>
                </a:lnTo>
                <a:lnTo>
                  <a:pt x="0" y="5463286"/>
                </a:lnTo>
                <a:lnTo>
                  <a:pt x="0" y="0"/>
                </a:lnTo>
                <a:close/>
              </a:path>
            </a:pathLst>
          </a:custGeom>
          <a:blipFill>
            <a:blip>
              <a:alphaModFix amt="19999"/>
              <a:extLst>
                <a:ext uri="{96DAC541-7B7A-43D3-8B79-37D633B846F1}">
                  <asvg:svgBlip xmlns:asvg="http://schemas.microsoft.com/office/drawing/2016/SVG/main" r:embed="rId2"/>
                </a:ext>
              </a:extLst>
            </a:blip>
            <a:stretch>
              <a:fillRect/>
            </a:stretch>
          </a:blipFill>
        </p:spPr>
      </p:sp>
      <p:sp>
        <p:nvSpPr>
          <p:cNvPr id="3" name="Freeform 3"/>
          <p:cNvSpPr/>
          <p:nvPr/>
        </p:nvSpPr>
        <p:spPr>
          <a:xfrm>
            <a:off x="1549242" y="7823325"/>
            <a:ext cx="191386" cy="221139"/>
          </a:xfrm>
          <a:custGeom>
            <a:avLst/>
            <a:gdLst/>
            <a:ahLst/>
            <a:cxnLst/>
            <a:rect l="l" t="t" r="r" b="b"/>
            <a:pathLst>
              <a:path w="191386" h="221139">
                <a:moveTo>
                  <a:pt x="0" y="0"/>
                </a:moveTo>
                <a:lnTo>
                  <a:pt x="191386" y="0"/>
                </a:lnTo>
                <a:lnTo>
                  <a:pt x="191386" y="221139"/>
                </a:lnTo>
                <a:lnTo>
                  <a:pt x="0" y="22113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028700" y="306184"/>
            <a:ext cx="2874871" cy="2298868"/>
          </a:xfrm>
          <a:custGeom>
            <a:avLst/>
            <a:gdLst/>
            <a:ahLst/>
            <a:cxnLst/>
            <a:rect l="l" t="t" r="r" b="b"/>
            <a:pathLst>
              <a:path w="2874871" h="2298868">
                <a:moveTo>
                  <a:pt x="0" y="0"/>
                </a:moveTo>
                <a:lnTo>
                  <a:pt x="2874871" y="0"/>
                </a:lnTo>
                <a:lnTo>
                  <a:pt x="2874871" y="2298868"/>
                </a:lnTo>
                <a:lnTo>
                  <a:pt x="0" y="2298868"/>
                </a:lnTo>
                <a:lnTo>
                  <a:pt x="0" y="0"/>
                </a:lnTo>
                <a:close/>
              </a:path>
            </a:pathLst>
          </a:custGeom>
          <a:blipFill>
            <a:blip r:embed="rId4"/>
            <a:stretch>
              <a:fillRect/>
            </a:stretch>
          </a:blipFill>
        </p:spPr>
      </p:sp>
      <p:sp>
        <p:nvSpPr>
          <p:cNvPr id="5" name="Freeform 5"/>
          <p:cNvSpPr/>
          <p:nvPr/>
        </p:nvSpPr>
        <p:spPr>
          <a:xfrm>
            <a:off x="14345059" y="6402812"/>
            <a:ext cx="3540637" cy="3540637"/>
          </a:xfrm>
          <a:custGeom>
            <a:avLst/>
            <a:gdLst/>
            <a:ahLst/>
            <a:cxnLst/>
            <a:rect l="l" t="t" r="r" b="b"/>
            <a:pathLst>
              <a:path w="3540637" h="3540637">
                <a:moveTo>
                  <a:pt x="0" y="0"/>
                </a:moveTo>
                <a:lnTo>
                  <a:pt x="3540637" y="0"/>
                </a:lnTo>
                <a:lnTo>
                  <a:pt x="3540637" y="3540636"/>
                </a:lnTo>
                <a:lnTo>
                  <a:pt x="0" y="354063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4693055" y="846018"/>
            <a:ext cx="10898543" cy="1123950"/>
          </a:xfrm>
          <a:prstGeom prst="rect">
            <a:avLst/>
          </a:prstGeom>
        </p:spPr>
        <p:txBody>
          <a:bodyPr lIns="0" tIns="0" rIns="0" bIns="0" rtlCol="0" anchor="t">
            <a:spAutoFit/>
          </a:bodyPr>
          <a:lstStyle/>
          <a:p>
            <a:pPr algn="ctr">
              <a:lnSpc>
                <a:spcPts val="4500"/>
              </a:lnSpc>
            </a:pPr>
            <a:r>
              <a:rPr lang="en-US" sz="3000">
                <a:solidFill>
                  <a:srgbClr val="FFFFFF"/>
                </a:solidFill>
                <a:latin typeface="Sigmar One"/>
                <a:ea typeface="Sigmar One"/>
                <a:cs typeface="Sigmar One"/>
                <a:sym typeface="Sigmar One"/>
              </a:rPr>
              <a:t>TRƯỜNG ĐẠI HỌC MỞ THÀNH PHỐ HỒ CHÍ MINH</a:t>
            </a:r>
          </a:p>
          <a:p>
            <a:pPr algn="ctr">
              <a:lnSpc>
                <a:spcPts val="4500"/>
              </a:lnSpc>
            </a:pPr>
            <a:r>
              <a:rPr lang="en-US" sz="3000">
                <a:solidFill>
                  <a:srgbClr val="FFFFFF"/>
                </a:solidFill>
                <a:latin typeface="Sigmar One"/>
                <a:ea typeface="Sigmar One"/>
                <a:cs typeface="Sigmar One"/>
                <a:sym typeface="Sigmar One"/>
              </a:rPr>
              <a:t>KHOA CÔNG NGHỆ THÔNG TIN</a:t>
            </a:r>
          </a:p>
        </p:txBody>
      </p:sp>
      <p:sp>
        <p:nvSpPr>
          <p:cNvPr id="7" name="TextBox 7"/>
          <p:cNvSpPr txBox="1"/>
          <p:nvPr/>
        </p:nvSpPr>
        <p:spPr>
          <a:xfrm>
            <a:off x="2912376" y="2741102"/>
            <a:ext cx="13318223" cy="1199496"/>
          </a:xfrm>
          <a:prstGeom prst="rect">
            <a:avLst/>
          </a:prstGeom>
        </p:spPr>
        <p:txBody>
          <a:bodyPr wrap="square" lIns="0" tIns="0" rIns="0" bIns="0" rtlCol="0" anchor="t">
            <a:spAutoFit/>
          </a:bodyPr>
          <a:lstStyle/>
          <a:p>
            <a:pPr algn="ctr">
              <a:lnSpc>
                <a:spcPts val="9697"/>
              </a:lnSpc>
            </a:pPr>
            <a:r>
              <a:rPr lang="en-US" sz="6927" dirty="0">
                <a:solidFill>
                  <a:srgbClr val="FF5757"/>
                </a:solidFill>
                <a:latin typeface="Sigmar One"/>
                <a:ea typeface="Sigmar One"/>
                <a:cs typeface="Sigmar One"/>
                <a:sym typeface="Sigmar One"/>
              </a:rPr>
              <a:t>KHÓA LUẬN TỐT NGHIỆP</a:t>
            </a:r>
          </a:p>
        </p:txBody>
      </p:sp>
      <p:sp>
        <p:nvSpPr>
          <p:cNvPr id="8" name="TextBox 8"/>
          <p:cNvSpPr txBox="1"/>
          <p:nvPr/>
        </p:nvSpPr>
        <p:spPr>
          <a:xfrm>
            <a:off x="5181792" y="4652800"/>
            <a:ext cx="10933585" cy="2748798"/>
          </a:xfrm>
          <a:prstGeom prst="rect">
            <a:avLst/>
          </a:prstGeom>
        </p:spPr>
        <p:txBody>
          <a:bodyPr lIns="0" tIns="0" rIns="0" bIns="0" rtlCol="0" anchor="t">
            <a:spAutoFit/>
          </a:bodyPr>
          <a:lstStyle/>
          <a:p>
            <a:pPr algn="just">
              <a:lnSpc>
                <a:spcPts val="7279"/>
              </a:lnSpc>
            </a:pPr>
            <a:r>
              <a:rPr lang="en-US" sz="4853" b="1" dirty="0" err="1">
                <a:solidFill>
                  <a:srgbClr val="FFFFFF"/>
                </a:solidFill>
                <a:latin typeface="Arial Bold"/>
                <a:ea typeface="Arial Bold"/>
                <a:cs typeface="Arial Bold"/>
                <a:sym typeface="Arial Bold"/>
              </a:rPr>
              <a:t>Họ</a:t>
            </a:r>
            <a:r>
              <a:rPr lang="en-US" sz="4853" b="1" dirty="0">
                <a:solidFill>
                  <a:srgbClr val="FFFFFF"/>
                </a:solidFill>
                <a:latin typeface="Arial Bold"/>
                <a:ea typeface="Arial Bold"/>
                <a:cs typeface="Arial Bold"/>
                <a:sym typeface="Arial Bold"/>
              </a:rPr>
              <a:t> </a:t>
            </a:r>
            <a:r>
              <a:rPr lang="en-US" sz="4853" b="1" dirty="0" err="1">
                <a:solidFill>
                  <a:srgbClr val="FFFFFF"/>
                </a:solidFill>
                <a:latin typeface="Arial Bold"/>
                <a:ea typeface="Arial Bold"/>
                <a:cs typeface="Arial Bold"/>
                <a:sym typeface="Arial Bold"/>
              </a:rPr>
              <a:t>Và</a:t>
            </a:r>
            <a:r>
              <a:rPr lang="en-US" sz="4853" b="1" dirty="0">
                <a:solidFill>
                  <a:srgbClr val="FFFFFF"/>
                </a:solidFill>
                <a:latin typeface="Arial Bold"/>
                <a:ea typeface="Arial Bold"/>
                <a:cs typeface="Arial Bold"/>
                <a:sym typeface="Arial Bold"/>
              </a:rPr>
              <a:t> </a:t>
            </a:r>
            <a:r>
              <a:rPr lang="en-US" sz="4853" b="1" dirty="0" err="1">
                <a:solidFill>
                  <a:srgbClr val="FFFFFF"/>
                </a:solidFill>
                <a:latin typeface="Arial Bold"/>
                <a:ea typeface="Arial Bold"/>
                <a:cs typeface="Arial Bold"/>
                <a:sym typeface="Arial Bold"/>
              </a:rPr>
              <a:t>Tên</a:t>
            </a:r>
            <a:r>
              <a:rPr lang="en-US" sz="4853" b="1" dirty="0">
                <a:solidFill>
                  <a:srgbClr val="FFFFFF"/>
                </a:solidFill>
                <a:latin typeface="Arial Bold"/>
                <a:ea typeface="Arial Bold"/>
                <a:cs typeface="Arial Bold"/>
                <a:sym typeface="Arial Bold"/>
              </a:rPr>
              <a:t>: </a:t>
            </a:r>
            <a:r>
              <a:rPr lang="en-US" sz="4853" b="1" dirty="0" err="1">
                <a:solidFill>
                  <a:srgbClr val="FFFFFF"/>
                </a:solidFill>
                <a:latin typeface="Arial Bold"/>
                <a:ea typeface="Arial Bold"/>
                <a:cs typeface="Arial Bold"/>
                <a:sym typeface="Arial Bold"/>
              </a:rPr>
              <a:t>Lư</a:t>
            </a:r>
            <a:r>
              <a:rPr lang="en-US" sz="4853" b="1" dirty="0">
                <a:solidFill>
                  <a:srgbClr val="FFFFFF"/>
                </a:solidFill>
                <a:latin typeface="Arial Bold"/>
                <a:ea typeface="Arial Bold"/>
                <a:cs typeface="Arial Bold"/>
                <a:sym typeface="Arial Bold"/>
              </a:rPr>
              <a:t> Hiếu Trung</a:t>
            </a:r>
          </a:p>
          <a:p>
            <a:pPr algn="just">
              <a:lnSpc>
                <a:spcPts val="7279"/>
              </a:lnSpc>
            </a:pPr>
            <a:r>
              <a:rPr lang="en-US" sz="4853" b="1" dirty="0">
                <a:solidFill>
                  <a:srgbClr val="FFFFFF"/>
                </a:solidFill>
                <a:latin typeface="Arial Bold"/>
                <a:ea typeface="Arial Bold"/>
                <a:cs typeface="Arial Bold"/>
                <a:sym typeface="Arial Bold"/>
              </a:rPr>
              <a:t>MSSV: 2251012145</a:t>
            </a:r>
          </a:p>
          <a:p>
            <a:pPr algn="just">
              <a:lnSpc>
                <a:spcPts val="7279"/>
              </a:lnSpc>
            </a:pPr>
            <a:r>
              <a:rPr lang="en-US" sz="4853" b="1" dirty="0" err="1">
                <a:solidFill>
                  <a:srgbClr val="FFFFFF"/>
                </a:solidFill>
                <a:latin typeface="Arial Bold"/>
                <a:ea typeface="Arial Bold"/>
                <a:cs typeface="Arial Bold"/>
                <a:sym typeface="Arial Bold"/>
              </a:rPr>
              <a:t>Ngành</a:t>
            </a:r>
            <a:r>
              <a:rPr lang="en-US" sz="4853" b="1" dirty="0">
                <a:solidFill>
                  <a:srgbClr val="FFFFFF"/>
                </a:solidFill>
                <a:latin typeface="Arial Bold"/>
                <a:ea typeface="Arial Bold"/>
                <a:cs typeface="Arial Bold"/>
                <a:sym typeface="Arial Bold"/>
              </a:rPr>
              <a:t>: Khoa </a:t>
            </a:r>
            <a:r>
              <a:rPr lang="en-US" sz="4853" b="1" dirty="0" err="1">
                <a:solidFill>
                  <a:srgbClr val="FFFFFF"/>
                </a:solidFill>
                <a:latin typeface="Arial Bold"/>
                <a:ea typeface="Arial Bold"/>
                <a:cs typeface="Arial Bold"/>
                <a:sym typeface="Arial Bold"/>
              </a:rPr>
              <a:t>học</a:t>
            </a:r>
            <a:r>
              <a:rPr lang="en-US" sz="4853" b="1" dirty="0">
                <a:solidFill>
                  <a:srgbClr val="FFFFFF"/>
                </a:solidFill>
                <a:latin typeface="Arial Bold"/>
                <a:ea typeface="Arial Bold"/>
                <a:cs typeface="Arial Bold"/>
                <a:sym typeface="Arial Bold"/>
              </a:rPr>
              <a:t> </a:t>
            </a:r>
            <a:r>
              <a:rPr lang="en-US" sz="4853" b="1" dirty="0" err="1">
                <a:solidFill>
                  <a:srgbClr val="FFFFFF"/>
                </a:solidFill>
                <a:latin typeface="Arial Bold"/>
                <a:ea typeface="Arial Bold"/>
                <a:cs typeface="Arial Bold"/>
                <a:sym typeface="Arial Bold"/>
              </a:rPr>
              <a:t>máy</a:t>
            </a:r>
            <a:r>
              <a:rPr lang="en-US" sz="4853" b="1" dirty="0">
                <a:solidFill>
                  <a:srgbClr val="FFFFFF"/>
                </a:solidFill>
                <a:latin typeface="Arial Bold"/>
                <a:ea typeface="Arial Bold"/>
                <a:cs typeface="Arial Bold"/>
                <a:sym typeface="Arial Bold"/>
              </a:rPr>
              <a:t> </a:t>
            </a:r>
            <a:r>
              <a:rPr lang="en-US" sz="4853" b="1" dirty="0" err="1">
                <a:solidFill>
                  <a:srgbClr val="FFFFFF"/>
                </a:solidFill>
                <a:latin typeface="Arial Bold"/>
                <a:ea typeface="Arial Bold"/>
                <a:cs typeface="Arial Bold"/>
                <a:sym typeface="Arial Bold"/>
              </a:rPr>
              <a:t>tính</a:t>
            </a:r>
            <a:endParaRPr lang="en-US" sz="4853" b="1" dirty="0">
              <a:solidFill>
                <a:srgbClr val="FFFFFF"/>
              </a:solidFill>
              <a:latin typeface="Arial Bold"/>
              <a:ea typeface="Arial Bold"/>
              <a:cs typeface="Arial Bold"/>
              <a:sym typeface="Arial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033">
                <a:alpha val="100000"/>
              </a:srgbClr>
            </a:gs>
            <a:gs pos="100000">
              <a:srgbClr val="143993">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611867" y="7555357"/>
            <a:ext cx="19511734" cy="5463285"/>
          </a:xfrm>
          <a:custGeom>
            <a:avLst/>
            <a:gdLst/>
            <a:ahLst/>
            <a:cxnLst/>
            <a:rect l="l" t="t" r="r" b="b"/>
            <a:pathLst>
              <a:path w="19511734" h="5463285">
                <a:moveTo>
                  <a:pt x="0" y="0"/>
                </a:moveTo>
                <a:lnTo>
                  <a:pt x="19511734" y="0"/>
                </a:lnTo>
                <a:lnTo>
                  <a:pt x="19511734" y="5463286"/>
                </a:lnTo>
                <a:lnTo>
                  <a:pt x="0" y="5463286"/>
                </a:lnTo>
                <a:lnTo>
                  <a:pt x="0" y="0"/>
                </a:lnTo>
                <a:close/>
              </a:path>
            </a:pathLst>
          </a:custGeom>
          <a:blipFill>
            <a:blip>
              <a:alphaModFix amt="19999"/>
              <a:extLst>
                <a:ext uri="{96DAC541-7B7A-43D3-8B79-37D633B846F1}">
                  <asvg:svgBlip xmlns:asvg="http://schemas.microsoft.com/office/drawing/2016/SVG/main" r:embed="rId2"/>
                </a:ext>
              </a:extLst>
            </a:blip>
            <a:stretch>
              <a:fillRect/>
            </a:stretch>
          </a:blipFill>
        </p:spPr>
      </p:sp>
      <p:sp>
        <p:nvSpPr>
          <p:cNvPr id="3" name="Freeform 3"/>
          <p:cNvSpPr/>
          <p:nvPr/>
        </p:nvSpPr>
        <p:spPr>
          <a:xfrm>
            <a:off x="1028700" y="306184"/>
            <a:ext cx="2874871" cy="2298868"/>
          </a:xfrm>
          <a:custGeom>
            <a:avLst/>
            <a:gdLst/>
            <a:ahLst/>
            <a:cxnLst/>
            <a:rect l="l" t="t" r="r" b="b"/>
            <a:pathLst>
              <a:path w="2874871" h="2298868">
                <a:moveTo>
                  <a:pt x="0" y="0"/>
                </a:moveTo>
                <a:lnTo>
                  <a:pt x="2874871" y="0"/>
                </a:lnTo>
                <a:lnTo>
                  <a:pt x="2874871" y="2298868"/>
                </a:lnTo>
                <a:lnTo>
                  <a:pt x="0" y="2298868"/>
                </a:lnTo>
                <a:lnTo>
                  <a:pt x="0" y="0"/>
                </a:lnTo>
                <a:close/>
              </a:path>
            </a:pathLst>
          </a:custGeom>
          <a:blipFill>
            <a:blip r:embed="rId3"/>
            <a:stretch>
              <a:fillRect/>
            </a:stretch>
          </a:blipFill>
        </p:spPr>
      </p:sp>
      <p:sp>
        <p:nvSpPr>
          <p:cNvPr id="4" name="Freeform 4"/>
          <p:cNvSpPr/>
          <p:nvPr/>
        </p:nvSpPr>
        <p:spPr>
          <a:xfrm>
            <a:off x="1411476" y="7102776"/>
            <a:ext cx="1644186" cy="1644186"/>
          </a:xfrm>
          <a:custGeom>
            <a:avLst/>
            <a:gdLst/>
            <a:ahLst/>
            <a:cxnLst/>
            <a:rect l="l" t="t" r="r" b="b"/>
            <a:pathLst>
              <a:path w="1644186" h="1644186">
                <a:moveTo>
                  <a:pt x="0" y="0"/>
                </a:moveTo>
                <a:lnTo>
                  <a:pt x="1644185" y="0"/>
                </a:lnTo>
                <a:lnTo>
                  <a:pt x="1644185" y="1644186"/>
                </a:lnTo>
                <a:lnTo>
                  <a:pt x="0" y="164418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5297729" y="6944083"/>
            <a:ext cx="1961571" cy="1961571"/>
          </a:xfrm>
          <a:custGeom>
            <a:avLst/>
            <a:gdLst/>
            <a:ahLst/>
            <a:cxnLst/>
            <a:rect l="l" t="t" r="r" b="b"/>
            <a:pathLst>
              <a:path w="1961571" h="1961571">
                <a:moveTo>
                  <a:pt x="0" y="0"/>
                </a:moveTo>
                <a:lnTo>
                  <a:pt x="1961571" y="0"/>
                </a:lnTo>
                <a:lnTo>
                  <a:pt x="1961571" y="1961572"/>
                </a:lnTo>
                <a:lnTo>
                  <a:pt x="0" y="196157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4693055" y="846018"/>
            <a:ext cx="10898543" cy="1123950"/>
          </a:xfrm>
          <a:prstGeom prst="rect">
            <a:avLst/>
          </a:prstGeom>
        </p:spPr>
        <p:txBody>
          <a:bodyPr lIns="0" tIns="0" rIns="0" bIns="0" rtlCol="0" anchor="t">
            <a:spAutoFit/>
          </a:bodyPr>
          <a:lstStyle/>
          <a:p>
            <a:pPr algn="ctr">
              <a:lnSpc>
                <a:spcPts val="4500"/>
              </a:lnSpc>
            </a:pPr>
            <a:r>
              <a:rPr lang="en-US" sz="3000">
                <a:solidFill>
                  <a:srgbClr val="FFFFFF"/>
                </a:solidFill>
                <a:latin typeface="Sigmar One"/>
                <a:ea typeface="Sigmar One"/>
                <a:cs typeface="Sigmar One"/>
                <a:sym typeface="Sigmar One"/>
              </a:rPr>
              <a:t>TRƯỜNG ĐẠI HỌC MỞ THÀNH PHỐ HỒ CHÍ MINH</a:t>
            </a:r>
          </a:p>
          <a:p>
            <a:pPr algn="ctr">
              <a:lnSpc>
                <a:spcPts val="4500"/>
              </a:lnSpc>
            </a:pPr>
            <a:r>
              <a:rPr lang="en-US" sz="3000">
                <a:solidFill>
                  <a:srgbClr val="FFFFFF"/>
                </a:solidFill>
                <a:latin typeface="Sigmar One"/>
                <a:ea typeface="Sigmar One"/>
                <a:cs typeface="Sigmar One"/>
                <a:sym typeface="Sigmar One"/>
              </a:rPr>
              <a:t>KHOA CÔNG NGHỆ THÔNG TIN</a:t>
            </a:r>
          </a:p>
        </p:txBody>
      </p:sp>
      <p:sp>
        <p:nvSpPr>
          <p:cNvPr id="7" name="TextBox 7"/>
          <p:cNvSpPr txBox="1"/>
          <p:nvPr/>
        </p:nvSpPr>
        <p:spPr>
          <a:xfrm>
            <a:off x="852831" y="3991138"/>
            <a:ext cx="16406470" cy="2364109"/>
          </a:xfrm>
          <a:prstGeom prst="rect">
            <a:avLst/>
          </a:prstGeom>
        </p:spPr>
        <p:txBody>
          <a:bodyPr wrap="square" lIns="0" tIns="0" rIns="0" bIns="0" rtlCol="0" anchor="t">
            <a:spAutoFit/>
          </a:bodyPr>
          <a:lstStyle/>
          <a:p>
            <a:pPr algn="ctr">
              <a:lnSpc>
                <a:spcPts val="6289"/>
              </a:lnSpc>
            </a:pPr>
            <a:r>
              <a:rPr lang="en-US" sz="3699" dirty="0">
                <a:solidFill>
                  <a:srgbClr val="FFEB99"/>
                </a:solidFill>
                <a:latin typeface="Sigmar One"/>
                <a:ea typeface="Sigmar One"/>
                <a:cs typeface="Sigmar One"/>
                <a:sym typeface="Sigmar One"/>
              </a:rPr>
              <a:t>PHÁT TRIỂN HỆ THỐNG QUẢN LÝ GYM THÔNG MINH TÍCH HỢP TƯ VẤN CHẾ ĐỘ TẬP LUYỆN VÀ DINH DƯỠNG DỰA TRÊN AI</a:t>
            </a:r>
          </a:p>
        </p:txBody>
      </p:sp>
      <p:sp>
        <p:nvSpPr>
          <p:cNvPr id="8" name="TextBox 8"/>
          <p:cNvSpPr txBox="1"/>
          <p:nvPr/>
        </p:nvSpPr>
        <p:spPr>
          <a:xfrm>
            <a:off x="4176242" y="6940851"/>
            <a:ext cx="10933585" cy="900948"/>
          </a:xfrm>
          <a:prstGeom prst="rect">
            <a:avLst/>
          </a:prstGeom>
        </p:spPr>
        <p:txBody>
          <a:bodyPr lIns="0" tIns="0" rIns="0" bIns="0" rtlCol="0" anchor="t">
            <a:spAutoFit/>
          </a:bodyPr>
          <a:lstStyle/>
          <a:p>
            <a:pPr algn="just">
              <a:lnSpc>
                <a:spcPts val="7279"/>
              </a:lnSpc>
            </a:pPr>
            <a:r>
              <a:rPr lang="en-US" sz="4853" b="1">
                <a:solidFill>
                  <a:srgbClr val="FFFFFF"/>
                </a:solidFill>
                <a:latin typeface="Arial Bold"/>
                <a:ea typeface="Arial Bold"/>
                <a:cs typeface="Arial Bold"/>
                <a:sym typeface="Arial Bold"/>
              </a:rPr>
              <a:t>GVHD: TS.TRƯƠNG HOÀNG VINH</a:t>
            </a:r>
          </a:p>
        </p:txBody>
      </p:sp>
      <p:sp>
        <p:nvSpPr>
          <p:cNvPr id="9" name="TextBox 9"/>
          <p:cNvSpPr txBox="1"/>
          <p:nvPr/>
        </p:nvSpPr>
        <p:spPr>
          <a:xfrm>
            <a:off x="7120778" y="2942152"/>
            <a:ext cx="4233021" cy="767518"/>
          </a:xfrm>
          <a:prstGeom prst="rect">
            <a:avLst/>
          </a:prstGeom>
        </p:spPr>
        <p:txBody>
          <a:bodyPr wrap="square" lIns="0" tIns="0" rIns="0" bIns="0" rtlCol="0" anchor="t">
            <a:spAutoFit/>
          </a:bodyPr>
          <a:lstStyle/>
          <a:p>
            <a:pPr algn="ctr">
              <a:lnSpc>
                <a:spcPts val="6228"/>
              </a:lnSpc>
            </a:pPr>
            <a:r>
              <a:rPr lang="en-US" sz="4449" dirty="0">
                <a:solidFill>
                  <a:srgbClr val="FF5757"/>
                </a:solidFill>
                <a:latin typeface="Sigmar One"/>
                <a:ea typeface="Sigmar One"/>
                <a:cs typeface="Sigmar One"/>
                <a:sym typeface="Sigmar One"/>
              </a:rPr>
              <a:t>TÊN ĐỀ TÀI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033">
                <a:alpha val="100000"/>
              </a:srgbClr>
            </a:gs>
            <a:gs pos="100000">
              <a:srgbClr val="143993">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028709" y="-1573370"/>
            <a:ext cx="20505256" cy="13583183"/>
          </a:xfrm>
          <a:custGeom>
            <a:avLst/>
            <a:gdLst/>
            <a:ahLst/>
            <a:cxnLst/>
            <a:rect l="l" t="t" r="r" b="b"/>
            <a:pathLst>
              <a:path w="20505256" h="13583183">
                <a:moveTo>
                  <a:pt x="0" y="0"/>
                </a:moveTo>
                <a:lnTo>
                  <a:pt x="20505255" y="0"/>
                </a:lnTo>
                <a:lnTo>
                  <a:pt x="20505255" y="13583183"/>
                </a:lnTo>
                <a:lnTo>
                  <a:pt x="0" y="13583183"/>
                </a:lnTo>
                <a:lnTo>
                  <a:pt x="0" y="0"/>
                </a:lnTo>
                <a:close/>
              </a:path>
            </a:pathLst>
          </a:custGeom>
          <a:blipFill>
            <a:blip r:embed="rId2">
              <a:alphaModFix amt="36000"/>
            </a:blip>
            <a:stretch>
              <a:fillRect t="-6678" b="-6678"/>
            </a:stretch>
          </a:blipFill>
        </p:spPr>
      </p:sp>
      <p:sp>
        <p:nvSpPr>
          <p:cNvPr id="3" name="Freeform 3"/>
          <p:cNvSpPr/>
          <p:nvPr/>
        </p:nvSpPr>
        <p:spPr>
          <a:xfrm>
            <a:off x="1549242" y="7823325"/>
            <a:ext cx="191386" cy="221139"/>
          </a:xfrm>
          <a:custGeom>
            <a:avLst/>
            <a:gdLst/>
            <a:ahLst/>
            <a:cxnLst/>
            <a:rect l="l" t="t" r="r" b="b"/>
            <a:pathLst>
              <a:path w="191386" h="221139">
                <a:moveTo>
                  <a:pt x="0" y="0"/>
                </a:moveTo>
                <a:lnTo>
                  <a:pt x="191386" y="0"/>
                </a:lnTo>
                <a:lnTo>
                  <a:pt x="191386" y="221139"/>
                </a:lnTo>
                <a:lnTo>
                  <a:pt x="0" y="22113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0" y="-13159"/>
            <a:ext cx="2779059" cy="2222253"/>
          </a:xfrm>
          <a:custGeom>
            <a:avLst/>
            <a:gdLst/>
            <a:ahLst/>
            <a:cxnLst/>
            <a:rect l="l" t="t" r="r" b="b"/>
            <a:pathLst>
              <a:path w="2779059" h="2222253">
                <a:moveTo>
                  <a:pt x="0" y="0"/>
                </a:moveTo>
                <a:lnTo>
                  <a:pt x="2779059" y="0"/>
                </a:lnTo>
                <a:lnTo>
                  <a:pt x="2779059" y="2222253"/>
                </a:lnTo>
                <a:lnTo>
                  <a:pt x="0" y="2222253"/>
                </a:lnTo>
                <a:lnTo>
                  <a:pt x="0" y="0"/>
                </a:lnTo>
                <a:close/>
              </a:path>
            </a:pathLst>
          </a:custGeom>
          <a:blipFill>
            <a:blip r:embed="rId4"/>
            <a:stretch>
              <a:fillRect/>
            </a:stretch>
          </a:blipFill>
        </p:spPr>
      </p:sp>
      <p:sp>
        <p:nvSpPr>
          <p:cNvPr id="5" name="Freeform 5"/>
          <p:cNvSpPr/>
          <p:nvPr/>
        </p:nvSpPr>
        <p:spPr>
          <a:xfrm>
            <a:off x="2635590" y="3045176"/>
            <a:ext cx="4483148" cy="4540942"/>
          </a:xfrm>
          <a:custGeom>
            <a:avLst/>
            <a:gdLst/>
            <a:ahLst/>
            <a:cxnLst/>
            <a:rect l="l" t="t" r="r" b="b"/>
            <a:pathLst>
              <a:path w="4483148" h="4540942">
                <a:moveTo>
                  <a:pt x="0" y="0"/>
                </a:moveTo>
                <a:lnTo>
                  <a:pt x="4483148" y="0"/>
                </a:lnTo>
                <a:lnTo>
                  <a:pt x="4483148" y="4540942"/>
                </a:lnTo>
                <a:lnTo>
                  <a:pt x="0" y="454094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2262751" y="552450"/>
            <a:ext cx="14221021" cy="819150"/>
          </a:xfrm>
          <a:prstGeom prst="rect">
            <a:avLst/>
          </a:prstGeom>
        </p:spPr>
        <p:txBody>
          <a:bodyPr lIns="0" tIns="0" rIns="0" bIns="0" rtlCol="0" anchor="t">
            <a:spAutoFit/>
          </a:bodyPr>
          <a:lstStyle/>
          <a:p>
            <a:pPr algn="ctr">
              <a:lnSpc>
                <a:spcPts val="6750"/>
              </a:lnSpc>
              <a:spcBef>
                <a:spcPct val="0"/>
              </a:spcBef>
            </a:pPr>
            <a:r>
              <a:rPr lang="en-US" sz="4500">
                <a:solidFill>
                  <a:srgbClr val="FF5757"/>
                </a:solidFill>
                <a:latin typeface="Sigmar One"/>
                <a:ea typeface="Sigmar One"/>
                <a:cs typeface="Sigmar One"/>
                <a:sym typeface="Sigmar One"/>
              </a:rPr>
              <a:t>NỘI DUNG CHÍNH</a:t>
            </a:r>
          </a:p>
        </p:txBody>
      </p:sp>
      <p:sp>
        <p:nvSpPr>
          <p:cNvPr id="7" name="TextBox 7"/>
          <p:cNvSpPr txBox="1"/>
          <p:nvPr/>
        </p:nvSpPr>
        <p:spPr>
          <a:xfrm>
            <a:off x="5904878" y="2190044"/>
            <a:ext cx="5134319" cy="542925"/>
          </a:xfrm>
          <a:prstGeom prst="rect">
            <a:avLst/>
          </a:prstGeom>
        </p:spPr>
        <p:txBody>
          <a:bodyPr lIns="0" tIns="0" rIns="0" bIns="0" rtlCol="0" anchor="t">
            <a:spAutoFit/>
          </a:bodyPr>
          <a:lstStyle/>
          <a:p>
            <a:pPr algn="ctr">
              <a:lnSpc>
                <a:spcPts val="4199"/>
              </a:lnSpc>
              <a:spcBef>
                <a:spcPct val="0"/>
              </a:spcBef>
            </a:pPr>
            <a:r>
              <a:rPr lang="en-US" sz="3499" b="1">
                <a:solidFill>
                  <a:srgbClr val="FFFFFF"/>
                </a:solidFill>
                <a:latin typeface="Arial Bold"/>
                <a:ea typeface="Arial Bold"/>
                <a:cs typeface="Arial Bold"/>
                <a:sym typeface="Arial Bold"/>
              </a:rPr>
              <a:t>I - TỔNG QUAN ĐỀ TÀI</a:t>
            </a:r>
          </a:p>
        </p:txBody>
      </p:sp>
      <p:sp>
        <p:nvSpPr>
          <p:cNvPr id="8" name="TextBox 8"/>
          <p:cNvSpPr txBox="1"/>
          <p:nvPr/>
        </p:nvSpPr>
        <p:spPr>
          <a:xfrm>
            <a:off x="6806102" y="3185014"/>
            <a:ext cx="5460736" cy="542925"/>
          </a:xfrm>
          <a:prstGeom prst="rect">
            <a:avLst/>
          </a:prstGeom>
        </p:spPr>
        <p:txBody>
          <a:bodyPr lIns="0" tIns="0" rIns="0" bIns="0" rtlCol="0" anchor="t">
            <a:spAutoFit/>
          </a:bodyPr>
          <a:lstStyle/>
          <a:p>
            <a:pPr algn="ctr">
              <a:lnSpc>
                <a:spcPts val="4199"/>
              </a:lnSpc>
              <a:spcBef>
                <a:spcPct val="0"/>
              </a:spcBef>
            </a:pPr>
            <a:r>
              <a:rPr lang="en-US" sz="3499" b="1">
                <a:solidFill>
                  <a:srgbClr val="FFFFFF"/>
                </a:solidFill>
                <a:latin typeface="Arial Bold"/>
                <a:ea typeface="Arial Bold"/>
                <a:cs typeface="Arial Bold"/>
                <a:sym typeface="Arial Bold"/>
              </a:rPr>
              <a:t>II - CÔNG NGHỆ CỐT LÕI</a:t>
            </a:r>
          </a:p>
        </p:txBody>
      </p:sp>
      <p:sp>
        <p:nvSpPr>
          <p:cNvPr id="9" name="TextBox 9"/>
          <p:cNvSpPr txBox="1"/>
          <p:nvPr/>
        </p:nvSpPr>
        <p:spPr>
          <a:xfrm>
            <a:off x="7118738" y="4937234"/>
            <a:ext cx="9492243" cy="542925"/>
          </a:xfrm>
          <a:prstGeom prst="rect">
            <a:avLst/>
          </a:prstGeom>
        </p:spPr>
        <p:txBody>
          <a:bodyPr lIns="0" tIns="0" rIns="0" bIns="0" rtlCol="0" anchor="t">
            <a:spAutoFit/>
          </a:bodyPr>
          <a:lstStyle/>
          <a:p>
            <a:pPr marL="0" lvl="0" indent="0" algn="ctr">
              <a:lnSpc>
                <a:spcPts val="4199"/>
              </a:lnSpc>
              <a:spcBef>
                <a:spcPct val="0"/>
              </a:spcBef>
            </a:pPr>
            <a:r>
              <a:rPr lang="en-US" sz="3499" b="1" u="none" strike="noStrike">
                <a:solidFill>
                  <a:srgbClr val="FFFFFF"/>
                </a:solidFill>
                <a:latin typeface="Arial Bold"/>
                <a:ea typeface="Arial Bold"/>
                <a:cs typeface="Arial Bold"/>
                <a:sym typeface="Arial Bold"/>
              </a:rPr>
              <a:t>III - PHÂN TÍCH VÀ THIẾT KẾ HỆ THỐNG</a:t>
            </a:r>
          </a:p>
        </p:txBody>
      </p:sp>
      <p:sp>
        <p:nvSpPr>
          <p:cNvPr id="10" name="TextBox 10"/>
          <p:cNvSpPr txBox="1"/>
          <p:nvPr/>
        </p:nvSpPr>
        <p:spPr>
          <a:xfrm>
            <a:off x="6806102" y="6785084"/>
            <a:ext cx="9103586" cy="542925"/>
          </a:xfrm>
          <a:prstGeom prst="rect">
            <a:avLst/>
          </a:prstGeom>
        </p:spPr>
        <p:txBody>
          <a:bodyPr lIns="0" tIns="0" rIns="0" bIns="0" rtlCol="0" anchor="t">
            <a:spAutoFit/>
          </a:bodyPr>
          <a:lstStyle/>
          <a:p>
            <a:pPr marL="0" lvl="0" indent="0" algn="ctr">
              <a:lnSpc>
                <a:spcPts val="4199"/>
              </a:lnSpc>
              <a:spcBef>
                <a:spcPct val="0"/>
              </a:spcBef>
            </a:pPr>
            <a:r>
              <a:rPr lang="en-US" sz="3499" b="1" u="none" strike="noStrike">
                <a:solidFill>
                  <a:srgbClr val="FFFFFF"/>
                </a:solidFill>
                <a:latin typeface="Arial Bold"/>
                <a:ea typeface="Arial Bold"/>
                <a:cs typeface="Arial Bold"/>
                <a:sym typeface="Arial Bold"/>
              </a:rPr>
              <a:t>IV - TRIỂN KHAI VÀ QUẢN LÝ HỆ THỐNG</a:t>
            </a:r>
          </a:p>
        </p:txBody>
      </p:sp>
      <p:sp>
        <p:nvSpPr>
          <p:cNvPr id="11" name="TextBox 11"/>
          <p:cNvSpPr txBox="1"/>
          <p:nvPr/>
        </p:nvSpPr>
        <p:spPr>
          <a:xfrm>
            <a:off x="5546026" y="7938543"/>
            <a:ext cx="8661765" cy="542925"/>
          </a:xfrm>
          <a:prstGeom prst="rect">
            <a:avLst/>
          </a:prstGeom>
        </p:spPr>
        <p:txBody>
          <a:bodyPr lIns="0" tIns="0" rIns="0" bIns="0" rtlCol="0" anchor="t">
            <a:spAutoFit/>
          </a:bodyPr>
          <a:lstStyle/>
          <a:p>
            <a:pPr marL="0" lvl="0" indent="0" algn="ctr">
              <a:lnSpc>
                <a:spcPts val="4199"/>
              </a:lnSpc>
              <a:spcBef>
                <a:spcPct val="0"/>
              </a:spcBef>
            </a:pPr>
            <a:r>
              <a:rPr lang="en-US" sz="3499" b="1" u="none" strike="noStrike">
                <a:solidFill>
                  <a:srgbClr val="FFFFFF"/>
                </a:solidFill>
                <a:latin typeface="Arial Bold"/>
                <a:ea typeface="Arial Bold"/>
                <a:cs typeface="Arial Bold"/>
                <a:sym typeface="Arial Bold"/>
              </a:rPr>
              <a:t>V - KẾT LUẬN VÀ HƯỚNG PHÁT TRIỂN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033">
                <a:alpha val="100000"/>
              </a:srgbClr>
            </a:gs>
            <a:gs pos="100000">
              <a:srgbClr val="143993">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rot="3398966">
            <a:off x="-8319978" y="368213"/>
            <a:ext cx="16054900" cy="14984574"/>
          </a:xfrm>
          <a:custGeom>
            <a:avLst/>
            <a:gdLst/>
            <a:ahLst/>
            <a:cxnLst/>
            <a:rect l="l" t="t" r="r" b="b"/>
            <a:pathLst>
              <a:path w="16054900" h="14984574">
                <a:moveTo>
                  <a:pt x="0" y="0"/>
                </a:moveTo>
                <a:lnTo>
                  <a:pt x="16054900" y="0"/>
                </a:lnTo>
                <a:lnTo>
                  <a:pt x="16054900" y="14984574"/>
                </a:lnTo>
                <a:lnTo>
                  <a:pt x="0" y="14984574"/>
                </a:lnTo>
                <a:lnTo>
                  <a:pt x="0" y="0"/>
                </a:lnTo>
                <a:close/>
              </a:path>
            </a:pathLst>
          </a:custGeom>
          <a:blipFill>
            <a:blip>
              <a:alphaModFix amt="47000"/>
              <a:extLst>
                <a:ext uri="{96DAC541-7B7A-43D3-8B79-37D633B846F1}">
                  <asvg:svgBlip xmlns:asvg="http://schemas.microsoft.com/office/drawing/2016/SVG/main" r:embed="rId2"/>
                </a:ext>
              </a:extLst>
            </a:blip>
            <a:stretch>
              <a:fillRect/>
            </a:stretch>
          </a:blipFill>
        </p:spPr>
      </p:sp>
      <p:sp>
        <p:nvSpPr>
          <p:cNvPr id="3" name="Freeform 3"/>
          <p:cNvSpPr/>
          <p:nvPr/>
        </p:nvSpPr>
        <p:spPr>
          <a:xfrm>
            <a:off x="0" y="-13159"/>
            <a:ext cx="2779059" cy="2222253"/>
          </a:xfrm>
          <a:custGeom>
            <a:avLst/>
            <a:gdLst/>
            <a:ahLst/>
            <a:cxnLst/>
            <a:rect l="l" t="t" r="r" b="b"/>
            <a:pathLst>
              <a:path w="2779059" h="2222253">
                <a:moveTo>
                  <a:pt x="0" y="0"/>
                </a:moveTo>
                <a:lnTo>
                  <a:pt x="2779059" y="0"/>
                </a:lnTo>
                <a:lnTo>
                  <a:pt x="2779059" y="2222253"/>
                </a:lnTo>
                <a:lnTo>
                  <a:pt x="0" y="2222253"/>
                </a:lnTo>
                <a:lnTo>
                  <a:pt x="0" y="0"/>
                </a:lnTo>
                <a:close/>
              </a:path>
            </a:pathLst>
          </a:custGeom>
          <a:blipFill>
            <a:blip r:embed="rId3"/>
            <a:stretch>
              <a:fillRect/>
            </a:stretch>
          </a:blipFill>
        </p:spPr>
      </p:sp>
      <p:sp>
        <p:nvSpPr>
          <p:cNvPr id="4" name="Freeform 4"/>
          <p:cNvSpPr/>
          <p:nvPr/>
        </p:nvSpPr>
        <p:spPr>
          <a:xfrm>
            <a:off x="3847558" y="1832112"/>
            <a:ext cx="871177" cy="753964"/>
          </a:xfrm>
          <a:custGeom>
            <a:avLst/>
            <a:gdLst/>
            <a:ahLst/>
            <a:cxnLst/>
            <a:rect l="l" t="t" r="r" b="b"/>
            <a:pathLst>
              <a:path w="871177" h="753964">
                <a:moveTo>
                  <a:pt x="0" y="0"/>
                </a:moveTo>
                <a:lnTo>
                  <a:pt x="871178" y="0"/>
                </a:lnTo>
                <a:lnTo>
                  <a:pt x="871178" y="753964"/>
                </a:lnTo>
                <a:lnTo>
                  <a:pt x="0" y="75396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3847558" y="4389536"/>
            <a:ext cx="871177" cy="753964"/>
          </a:xfrm>
          <a:custGeom>
            <a:avLst/>
            <a:gdLst/>
            <a:ahLst/>
            <a:cxnLst/>
            <a:rect l="l" t="t" r="r" b="b"/>
            <a:pathLst>
              <a:path w="871177" h="753964">
                <a:moveTo>
                  <a:pt x="0" y="0"/>
                </a:moveTo>
                <a:lnTo>
                  <a:pt x="871178" y="0"/>
                </a:lnTo>
                <a:lnTo>
                  <a:pt x="871178" y="753964"/>
                </a:lnTo>
                <a:lnTo>
                  <a:pt x="0" y="75396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3847558" y="7106536"/>
            <a:ext cx="871177" cy="753964"/>
          </a:xfrm>
          <a:custGeom>
            <a:avLst/>
            <a:gdLst/>
            <a:ahLst/>
            <a:cxnLst/>
            <a:rect l="l" t="t" r="r" b="b"/>
            <a:pathLst>
              <a:path w="871177" h="753964">
                <a:moveTo>
                  <a:pt x="0" y="0"/>
                </a:moveTo>
                <a:lnTo>
                  <a:pt x="871178" y="0"/>
                </a:lnTo>
                <a:lnTo>
                  <a:pt x="871178" y="753964"/>
                </a:lnTo>
                <a:lnTo>
                  <a:pt x="0" y="75396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rot="4801631" flipH="1">
            <a:off x="10055332" y="-1598949"/>
            <a:ext cx="16054900" cy="14984574"/>
          </a:xfrm>
          <a:custGeom>
            <a:avLst/>
            <a:gdLst/>
            <a:ahLst/>
            <a:cxnLst/>
            <a:rect l="l" t="t" r="r" b="b"/>
            <a:pathLst>
              <a:path w="16054900" h="14984574">
                <a:moveTo>
                  <a:pt x="16054900" y="0"/>
                </a:moveTo>
                <a:lnTo>
                  <a:pt x="0" y="0"/>
                </a:lnTo>
                <a:lnTo>
                  <a:pt x="0" y="14984574"/>
                </a:lnTo>
                <a:lnTo>
                  <a:pt x="16054900" y="14984574"/>
                </a:lnTo>
                <a:lnTo>
                  <a:pt x="16054900" y="0"/>
                </a:lnTo>
                <a:close/>
              </a:path>
            </a:pathLst>
          </a:custGeom>
          <a:blipFill>
            <a:blip>
              <a:alphaModFix amt="28000"/>
              <a:extLst>
                <a:ext uri="{96DAC541-7B7A-43D3-8B79-37D633B846F1}">
                  <asvg:svgBlip xmlns:asvg="http://schemas.microsoft.com/office/drawing/2016/SVG/main" r:embed="rId2"/>
                </a:ext>
              </a:extLst>
            </a:blip>
            <a:stretch>
              <a:fillRect/>
            </a:stretch>
          </a:blipFill>
        </p:spPr>
      </p:sp>
      <p:sp>
        <p:nvSpPr>
          <p:cNvPr id="8" name="Freeform 8"/>
          <p:cNvSpPr/>
          <p:nvPr/>
        </p:nvSpPr>
        <p:spPr>
          <a:xfrm>
            <a:off x="12750487" y="2330518"/>
            <a:ext cx="4508813" cy="4871999"/>
          </a:xfrm>
          <a:custGeom>
            <a:avLst/>
            <a:gdLst/>
            <a:ahLst/>
            <a:cxnLst/>
            <a:rect l="l" t="t" r="r" b="b"/>
            <a:pathLst>
              <a:path w="4508813" h="4871999">
                <a:moveTo>
                  <a:pt x="0" y="0"/>
                </a:moveTo>
                <a:lnTo>
                  <a:pt x="4508813" y="0"/>
                </a:lnTo>
                <a:lnTo>
                  <a:pt x="4508813" y="4871999"/>
                </a:lnTo>
                <a:lnTo>
                  <a:pt x="0" y="487199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5712084" y="676275"/>
            <a:ext cx="7951610" cy="695325"/>
          </a:xfrm>
          <a:prstGeom prst="rect">
            <a:avLst/>
          </a:prstGeom>
        </p:spPr>
        <p:txBody>
          <a:bodyPr lIns="0" tIns="0" rIns="0" bIns="0" rtlCol="0" anchor="t">
            <a:spAutoFit/>
          </a:bodyPr>
          <a:lstStyle/>
          <a:p>
            <a:pPr algn="ctr">
              <a:lnSpc>
                <a:spcPts val="5400"/>
              </a:lnSpc>
              <a:spcBef>
                <a:spcPct val="0"/>
              </a:spcBef>
            </a:pPr>
            <a:r>
              <a:rPr lang="en-US" sz="4500">
                <a:solidFill>
                  <a:srgbClr val="FF5757"/>
                </a:solidFill>
                <a:latin typeface="Sigmar One"/>
                <a:ea typeface="Sigmar One"/>
                <a:cs typeface="Sigmar One"/>
                <a:sym typeface="Sigmar One"/>
              </a:rPr>
              <a:t>I - TỔNG QUAN ĐỀ TÀI</a:t>
            </a:r>
          </a:p>
        </p:txBody>
      </p:sp>
      <p:sp>
        <p:nvSpPr>
          <p:cNvPr id="10" name="TextBox 10"/>
          <p:cNvSpPr txBox="1"/>
          <p:nvPr/>
        </p:nvSpPr>
        <p:spPr>
          <a:xfrm>
            <a:off x="4946417" y="1822587"/>
            <a:ext cx="6349071" cy="1809750"/>
          </a:xfrm>
          <a:prstGeom prst="rect">
            <a:avLst/>
          </a:prstGeom>
        </p:spPr>
        <p:txBody>
          <a:bodyPr lIns="0" tIns="0" rIns="0" bIns="0" rtlCol="0" anchor="t">
            <a:spAutoFit/>
          </a:bodyPr>
          <a:lstStyle/>
          <a:p>
            <a:pPr algn="l">
              <a:lnSpc>
                <a:spcPts val="4799"/>
              </a:lnSpc>
            </a:pPr>
            <a:r>
              <a:rPr lang="en-US" sz="3999" b="1">
                <a:solidFill>
                  <a:srgbClr val="FFEB99"/>
                </a:solidFill>
                <a:latin typeface="Arial Bold"/>
                <a:ea typeface="Arial Bold"/>
                <a:cs typeface="Arial Bold"/>
                <a:sym typeface="Arial Bold"/>
              </a:rPr>
              <a:t>Bối Cảnh Thị Trường</a:t>
            </a:r>
          </a:p>
          <a:p>
            <a:pPr marL="863599" lvl="1" indent="-431800" algn="l">
              <a:lnSpc>
                <a:spcPts val="4799"/>
              </a:lnSpc>
              <a:buFont typeface="Arial"/>
              <a:buChar char="•"/>
            </a:pPr>
            <a:r>
              <a:rPr lang="en-US" sz="3999">
                <a:solidFill>
                  <a:srgbClr val="FFFFFF"/>
                </a:solidFill>
                <a:latin typeface="Arial"/>
                <a:ea typeface="Arial"/>
                <a:cs typeface="Arial"/>
                <a:sym typeface="Arial"/>
              </a:rPr>
              <a:t>Chuẩn sống hiện đại</a:t>
            </a:r>
          </a:p>
          <a:p>
            <a:pPr marL="863599" lvl="1" indent="-431800" algn="l">
              <a:lnSpc>
                <a:spcPts val="4799"/>
              </a:lnSpc>
              <a:spcBef>
                <a:spcPct val="0"/>
              </a:spcBef>
              <a:buFont typeface="Arial"/>
              <a:buChar char="•"/>
            </a:pPr>
            <a:r>
              <a:rPr lang="en-US" sz="3999">
                <a:solidFill>
                  <a:srgbClr val="FFFFFF"/>
                </a:solidFill>
                <a:latin typeface="Arial"/>
                <a:ea typeface="Arial"/>
                <a:cs typeface="Arial"/>
                <a:sym typeface="Arial"/>
              </a:rPr>
              <a:t>Áp lực công nghệ</a:t>
            </a:r>
          </a:p>
        </p:txBody>
      </p:sp>
      <p:sp>
        <p:nvSpPr>
          <p:cNvPr id="11" name="TextBox 11"/>
          <p:cNvSpPr txBox="1"/>
          <p:nvPr/>
        </p:nvSpPr>
        <p:spPr>
          <a:xfrm>
            <a:off x="4946417" y="4537463"/>
            <a:ext cx="7212892" cy="2409825"/>
          </a:xfrm>
          <a:prstGeom prst="rect">
            <a:avLst/>
          </a:prstGeom>
        </p:spPr>
        <p:txBody>
          <a:bodyPr lIns="0" tIns="0" rIns="0" bIns="0" rtlCol="0" anchor="t">
            <a:spAutoFit/>
          </a:bodyPr>
          <a:lstStyle/>
          <a:p>
            <a:pPr algn="l">
              <a:lnSpc>
                <a:spcPts val="4799"/>
              </a:lnSpc>
              <a:spcBef>
                <a:spcPct val="0"/>
              </a:spcBef>
            </a:pPr>
            <a:r>
              <a:rPr lang="en-US" sz="3999" b="1">
                <a:solidFill>
                  <a:srgbClr val="FFEB99"/>
                </a:solidFill>
                <a:latin typeface="Arial Bold"/>
                <a:ea typeface="Arial Bold"/>
                <a:cs typeface="Arial Bold"/>
                <a:sym typeface="Arial Bold"/>
              </a:rPr>
              <a:t>Thách Thức Trong Vận Hành Doanh Nghiệp</a:t>
            </a:r>
          </a:p>
          <a:p>
            <a:pPr marL="863599" lvl="1" indent="-431800" algn="l">
              <a:lnSpc>
                <a:spcPts val="4799"/>
              </a:lnSpc>
              <a:spcBef>
                <a:spcPct val="0"/>
              </a:spcBef>
              <a:buFont typeface="Arial"/>
              <a:buChar char="•"/>
            </a:pPr>
            <a:r>
              <a:rPr lang="en-US" sz="3999">
                <a:solidFill>
                  <a:srgbClr val="FFFFFF"/>
                </a:solidFill>
                <a:latin typeface="Arial"/>
                <a:ea typeface="Arial"/>
                <a:cs typeface="Arial"/>
                <a:sym typeface="Arial"/>
              </a:rPr>
              <a:t>Vận hành thủ công</a:t>
            </a:r>
          </a:p>
          <a:p>
            <a:pPr marL="863599" lvl="1" indent="-431800" algn="l">
              <a:lnSpc>
                <a:spcPts val="4799"/>
              </a:lnSpc>
              <a:spcBef>
                <a:spcPct val="0"/>
              </a:spcBef>
              <a:buFont typeface="Arial"/>
              <a:buChar char="•"/>
            </a:pPr>
            <a:r>
              <a:rPr lang="en-US" sz="3999">
                <a:solidFill>
                  <a:srgbClr val="FFFFFF"/>
                </a:solidFill>
                <a:latin typeface="Arial"/>
                <a:ea typeface="Arial"/>
                <a:cs typeface="Arial"/>
                <a:sym typeface="Arial"/>
              </a:rPr>
              <a:t>Rủi ro quản trị</a:t>
            </a:r>
          </a:p>
        </p:txBody>
      </p:sp>
      <p:sp>
        <p:nvSpPr>
          <p:cNvPr id="12" name="TextBox 12"/>
          <p:cNvSpPr txBox="1"/>
          <p:nvPr/>
        </p:nvSpPr>
        <p:spPr>
          <a:xfrm>
            <a:off x="4946417" y="7448550"/>
            <a:ext cx="10371362" cy="1809750"/>
          </a:xfrm>
          <a:prstGeom prst="rect">
            <a:avLst/>
          </a:prstGeom>
        </p:spPr>
        <p:txBody>
          <a:bodyPr lIns="0" tIns="0" rIns="0" bIns="0" rtlCol="0" anchor="t">
            <a:spAutoFit/>
          </a:bodyPr>
          <a:lstStyle/>
          <a:p>
            <a:pPr algn="l">
              <a:lnSpc>
                <a:spcPts val="4799"/>
              </a:lnSpc>
              <a:spcBef>
                <a:spcPct val="0"/>
              </a:spcBef>
            </a:pPr>
            <a:r>
              <a:rPr lang="en-US" sz="3999" b="1">
                <a:solidFill>
                  <a:srgbClr val="FFEB99"/>
                </a:solidFill>
                <a:latin typeface="Arial Bold"/>
                <a:ea typeface="Arial Bold"/>
                <a:cs typeface="Arial Bold"/>
                <a:sym typeface="Arial Bold"/>
              </a:rPr>
              <a:t> Điểm Cần Tối Ưu Đối Với Khách Hàng</a:t>
            </a:r>
          </a:p>
          <a:p>
            <a:pPr marL="863599" lvl="1" indent="-431800" algn="l">
              <a:lnSpc>
                <a:spcPts val="4799"/>
              </a:lnSpc>
              <a:spcBef>
                <a:spcPct val="0"/>
              </a:spcBef>
              <a:buFont typeface="Arial"/>
              <a:buChar char="•"/>
            </a:pPr>
            <a:r>
              <a:rPr lang="en-US" sz="3999">
                <a:solidFill>
                  <a:srgbClr val="FFFFFF"/>
                </a:solidFill>
                <a:latin typeface="Arial"/>
                <a:ea typeface="Arial"/>
                <a:cs typeface="Arial"/>
                <a:sym typeface="Arial"/>
              </a:rPr>
              <a:t>Trải nghiệm mơ hồ</a:t>
            </a:r>
          </a:p>
          <a:p>
            <a:pPr marL="863599" lvl="1" indent="-431800" algn="l">
              <a:lnSpc>
                <a:spcPts val="4799"/>
              </a:lnSpc>
              <a:spcBef>
                <a:spcPct val="0"/>
              </a:spcBef>
              <a:buFont typeface="Arial"/>
              <a:buChar char="•"/>
            </a:pPr>
            <a:r>
              <a:rPr lang="en-US" sz="3999">
                <a:solidFill>
                  <a:srgbClr val="FFFFFF"/>
                </a:solidFill>
                <a:latin typeface="Arial"/>
                <a:ea typeface="Arial"/>
                <a:cs typeface="Arial"/>
                <a:sym typeface="Arial"/>
              </a:rPr>
              <a:t>Khó tiếp cận chế độ theo cá nhân hóa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033">
                <a:alpha val="100000"/>
              </a:srgbClr>
            </a:gs>
            <a:gs pos="100000">
              <a:srgbClr val="143993">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549242" y="7823325"/>
            <a:ext cx="191386" cy="221139"/>
          </a:xfrm>
          <a:custGeom>
            <a:avLst/>
            <a:gdLst/>
            <a:ahLst/>
            <a:cxnLst/>
            <a:rect l="l" t="t" r="r" b="b"/>
            <a:pathLst>
              <a:path w="191386" h="221139">
                <a:moveTo>
                  <a:pt x="0" y="0"/>
                </a:moveTo>
                <a:lnTo>
                  <a:pt x="191386" y="0"/>
                </a:lnTo>
                <a:lnTo>
                  <a:pt x="191386" y="221139"/>
                </a:lnTo>
                <a:lnTo>
                  <a:pt x="0" y="22113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5494318" y="533779"/>
            <a:ext cx="7951610" cy="695325"/>
          </a:xfrm>
          <a:prstGeom prst="rect">
            <a:avLst/>
          </a:prstGeom>
        </p:spPr>
        <p:txBody>
          <a:bodyPr lIns="0" tIns="0" rIns="0" bIns="0" rtlCol="0" anchor="t">
            <a:spAutoFit/>
          </a:bodyPr>
          <a:lstStyle/>
          <a:p>
            <a:pPr algn="ctr">
              <a:lnSpc>
                <a:spcPts val="5400"/>
              </a:lnSpc>
              <a:spcBef>
                <a:spcPct val="0"/>
              </a:spcBef>
            </a:pPr>
            <a:r>
              <a:rPr lang="en-US" sz="4500">
                <a:solidFill>
                  <a:srgbClr val="FF5757"/>
                </a:solidFill>
                <a:latin typeface="Sigmar One"/>
                <a:ea typeface="Sigmar One"/>
                <a:cs typeface="Sigmar One"/>
                <a:sym typeface="Sigmar One"/>
              </a:rPr>
              <a:t>II - CÔNG NGHỆ CỐT LÕI</a:t>
            </a:r>
          </a:p>
        </p:txBody>
      </p:sp>
      <p:sp>
        <p:nvSpPr>
          <p:cNvPr id="4" name="Freeform 4"/>
          <p:cNvSpPr/>
          <p:nvPr/>
        </p:nvSpPr>
        <p:spPr>
          <a:xfrm>
            <a:off x="0" y="-13159"/>
            <a:ext cx="2779059" cy="2222253"/>
          </a:xfrm>
          <a:custGeom>
            <a:avLst/>
            <a:gdLst/>
            <a:ahLst/>
            <a:cxnLst/>
            <a:rect l="l" t="t" r="r" b="b"/>
            <a:pathLst>
              <a:path w="2779059" h="2222253">
                <a:moveTo>
                  <a:pt x="0" y="0"/>
                </a:moveTo>
                <a:lnTo>
                  <a:pt x="2779059" y="0"/>
                </a:lnTo>
                <a:lnTo>
                  <a:pt x="2779059" y="2222253"/>
                </a:lnTo>
                <a:lnTo>
                  <a:pt x="0" y="2222253"/>
                </a:lnTo>
                <a:lnTo>
                  <a:pt x="0" y="0"/>
                </a:lnTo>
                <a:close/>
              </a:path>
            </a:pathLst>
          </a:custGeom>
          <a:blipFill>
            <a:blip r:embed="rId3"/>
            <a:stretch>
              <a:fillRect/>
            </a:stretch>
          </a:blipFill>
        </p:spPr>
      </p:sp>
      <p:sp>
        <p:nvSpPr>
          <p:cNvPr id="5" name="Freeform 5"/>
          <p:cNvSpPr/>
          <p:nvPr/>
        </p:nvSpPr>
        <p:spPr>
          <a:xfrm>
            <a:off x="2984308" y="1556764"/>
            <a:ext cx="2623124" cy="1399000"/>
          </a:xfrm>
          <a:custGeom>
            <a:avLst/>
            <a:gdLst/>
            <a:ahLst/>
            <a:cxnLst/>
            <a:rect l="l" t="t" r="r" b="b"/>
            <a:pathLst>
              <a:path w="2623124" h="1399000">
                <a:moveTo>
                  <a:pt x="0" y="0"/>
                </a:moveTo>
                <a:lnTo>
                  <a:pt x="2623124" y="0"/>
                </a:lnTo>
                <a:lnTo>
                  <a:pt x="2623124" y="1399000"/>
                </a:lnTo>
                <a:lnTo>
                  <a:pt x="0" y="1399000"/>
                </a:lnTo>
                <a:lnTo>
                  <a:pt x="0" y="0"/>
                </a:lnTo>
                <a:close/>
              </a:path>
            </a:pathLst>
          </a:custGeom>
          <a:blipFill>
            <a:blip r:embed="rId4"/>
            <a:stretch>
              <a:fillRect/>
            </a:stretch>
          </a:blipFill>
        </p:spPr>
      </p:sp>
      <p:sp>
        <p:nvSpPr>
          <p:cNvPr id="6" name="Freeform 6"/>
          <p:cNvSpPr/>
          <p:nvPr/>
        </p:nvSpPr>
        <p:spPr>
          <a:xfrm>
            <a:off x="7369557" y="1556764"/>
            <a:ext cx="2623124" cy="1399000"/>
          </a:xfrm>
          <a:custGeom>
            <a:avLst/>
            <a:gdLst/>
            <a:ahLst/>
            <a:cxnLst/>
            <a:rect l="l" t="t" r="r" b="b"/>
            <a:pathLst>
              <a:path w="2623124" h="1399000">
                <a:moveTo>
                  <a:pt x="0" y="0"/>
                </a:moveTo>
                <a:lnTo>
                  <a:pt x="2623125" y="0"/>
                </a:lnTo>
                <a:lnTo>
                  <a:pt x="2623125" y="1399000"/>
                </a:lnTo>
                <a:lnTo>
                  <a:pt x="0" y="1399000"/>
                </a:lnTo>
                <a:lnTo>
                  <a:pt x="0" y="0"/>
                </a:lnTo>
                <a:close/>
              </a:path>
            </a:pathLst>
          </a:custGeom>
          <a:blipFill>
            <a:blip r:embed="rId5"/>
            <a:stretch>
              <a:fillRect l="-3658" t="-897" b="-897"/>
            </a:stretch>
          </a:blipFill>
          <a:ln cap="sq">
            <a:noFill/>
            <a:prstDash val="solid"/>
            <a:miter/>
          </a:ln>
        </p:spPr>
      </p:sp>
      <p:sp>
        <p:nvSpPr>
          <p:cNvPr id="7" name="Freeform 7"/>
          <p:cNvSpPr/>
          <p:nvPr/>
        </p:nvSpPr>
        <p:spPr>
          <a:xfrm>
            <a:off x="12121879" y="1502934"/>
            <a:ext cx="2648099" cy="1412319"/>
          </a:xfrm>
          <a:custGeom>
            <a:avLst/>
            <a:gdLst/>
            <a:ahLst/>
            <a:cxnLst/>
            <a:rect l="l" t="t" r="r" b="b"/>
            <a:pathLst>
              <a:path w="2648099" h="1412319">
                <a:moveTo>
                  <a:pt x="0" y="0"/>
                </a:moveTo>
                <a:lnTo>
                  <a:pt x="2648099" y="0"/>
                </a:lnTo>
                <a:lnTo>
                  <a:pt x="2648099" y="1412320"/>
                </a:lnTo>
                <a:lnTo>
                  <a:pt x="0" y="1412320"/>
                </a:lnTo>
                <a:lnTo>
                  <a:pt x="0" y="0"/>
                </a:lnTo>
                <a:close/>
              </a:path>
            </a:pathLst>
          </a:custGeom>
          <a:blipFill>
            <a:blip r:embed="rId6"/>
            <a:stretch>
              <a:fillRect l="-3658" t="-4663" b="-4663"/>
            </a:stretch>
          </a:blipFill>
          <a:ln cap="sq">
            <a:noFill/>
            <a:prstDash val="solid"/>
            <a:miter/>
          </a:ln>
        </p:spPr>
      </p:sp>
      <p:sp>
        <p:nvSpPr>
          <p:cNvPr id="8" name="Freeform 8"/>
          <p:cNvSpPr/>
          <p:nvPr/>
        </p:nvSpPr>
        <p:spPr>
          <a:xfrm>
            <a:off x="6087669" y="4151186"/>
            <a:ext cx="2915990" cy="1555194"/>
          </a:xfrm>
          <a:custGeom>
            <a:avLst/>
            <a:gdLst/>
            <a:ahLst/>
            <a:cxnLst/>
            <a:rect l="l" t="t" r="r" b="b"/>
            <a:pathLst>
              <a:path w="2915990" h="1555194">
                <a:moveTo>
                  <a:pt x="0" y="0"/>
                </a:moveTo>
                <a:lnTo>
                  <a:pt x="2915990" y="0"/>
                </a:lnTo>
                <a:lnTo>
                  <a:pt x="2915990" y="1555194"/>
                </a:lnTo>
                <a:lnTo>
                  <a:pt x="0" y="1555194"/>
                </a:lnTo>
                <a:lnTo>
                  <a:pt x="0" y="0"/>
                </a:lnTo>
                <a:close/>
              </a:path>
            </a:pathLst>
          </a:custGeom>
          <a:blipFill>
            <a:blip r:embed="rId7"/>
            <a:stretch>
              <a:fillRect l="-2615" t="-506" b="-506"/>
            </a:stretch>
          </a:blipFill>
          <a:ln cap="sq">
            <a:noFill/>
            <a:prstDash val="solid"/>
            <a:miter/>
          </a:ln>
        </p:spPr>
      </p:sp>
      <p:sp>
        <p:nvSpPr>
          <p:cNvPr id="9" name="Freeform 9"/>
          <p:cNvSpPr/>
          <p:nvPr/>
        </p:nvSpPr>
        <p:spPr>
          <a:xfrm>
            <a:off x="7692097" y="6911487"/>
            <a:ext cx="2623124" cy="1399000"/>
          </a:xfrm>
          <a:custGeom>
            <a:avLst/>
            <a:gdLst/>
            <a:ahLst/>
            <a:cxnLst/>
            <a:rect l="l" t="t" r="r" b="b"/>
            <a:pathLst>
              <a:path w="2623124" h="1399000">
                <a:moveTo>
                  <a:pt x="0" y="0"/>
                </a:moveTo>
                <a:lnTo>
                  <a:pt x="2623124" y="0"/>
                </a:lnTo>
                <a:lnTo>
                  <a:pt x="2623124" y="1398999"/>
                </a:lnTo>
                <a:lnTo>
                  <a:pt x="0" y="1398999"/>
                </a:lnTo>
                <a:lnTo>
                  <a:pt x="0" y="0"/>
                </a:lnTo>
                <a:close/>
              </a:path>
            </a:pathLst>
          </a:custGeom>
          <a:blipFill>
            <a:blip r:embed="rId8"/>
            <a:stretch>
              <a:fillRect l="-3333" r="-3333"/>
            </a:stretch>
          </a:blipFill>
          <a:ln cap="sq">
            <a:noFill/>
            <a:prstDash val="solid"/>
            <a:miter/>
          </a:ln>
        </p:spPr>
      </p:sp>
      <p:sp>
        <p:nvSpPr>
          <p:cNvPr id="10" name="Freeform 10"/>
          <p:cNvSpPr/>
          <p:nvPr/>
        </p:nvSpPr>
        <p:spPr>
          <a:xfrm>
            <a:off x="1740628" y="4066698"/>
            <a:ext cx="2915990" cy="1555194"/>
          </a:xfrm>
          <a:custGeom>
            <a:avLst/>
            <a:gdLst/>
            <a:ahLst/>
            <a:cxnLst/>
            <a:rect l="l" t="t" r="r" b="b"/>
            <a:pathLst>
              <a:path w="2915990" h="1555194">
                <a:moveTo>
                  <a:pt x="0" y="0"/>
                </a:moveTo>
                <a:lnTo>
                  <a:pt x="2915990" y="0"/>
                </a:lnTo>
                <a:lnTo>
                  <a:pt x="2915990" y="1555194"/>
                </a:lnTo>
                <a:lnTo>
                  <a:pt x="0" y="1555194"/>
                </a:lnTo>
                <a:lnTo>
                  <a:pt x="0" y="0"/>
                </a:lnTo>
                <a:close/>
              </a:path>
            </a:pathLst>
          </a:custGeom>
          <a:blipFill>
            <a:blip r:embed="rId9"/>
            <a:stretch>
              <a:fillRect l="-3944" t="-1145" r="-3944"/>
            </a:stretch>
          </a:blipFill>
          <a:ln cap="sq">
            <a:noFill/>
            <a:prstDash val="solid"/>
            <a:miter/>
          </a:ln>
        </p:spPr>
      </p:sp>
      <p:sp>
        <p:nvSpPr>
          <p:cNvPr id="11" name="Freeform 11"/>
          <p:cNvSpPr/>
          <p:nvPr/>
        </p:nvSpPr>
        <p:spPr>
          <a:xfrm>
            <a:off x="10522386" y="4104798"/>
            <a:ext cx="1990094" cy="1647970"/>
          </a:xfrm>
          <a:custGeom>
            <a:avLst/>
            <a:gdLst/>
            <a:ahLst/>
            <a:cxnLst/>
            <a:rect l="l" t="t" r="r" b="b"/>
            <a:pathLst>
              <a:path w="1990094" h="1647970">
                <a:moveTo>
                  <a:pt x="0" y="0"/>
                </a:moveTo>
                <a:lnTo>
                  <a:pt x="1990094" y="0"/>
                </a:lnTo>
                <a:lnTo>
                  <a:pt x="1990094" y="1647970"/>
                </a:lnTo>
                <a:lnTo>
                  <a:pt x="0" y="1647970"/>
                </a:lnTo>
                <a:lnTo>
                  <a:pt x="0" y="0"/>
                </a:lnTo>
                <a:close/>
              </a:path>
            </a:pathLst>
          </a:custGeom>
          <a:blipFill>
            <a:blip r:embed="rId10"/>
            <a:stretch>
              <a:fillRect t="-8206" b="-12553"/>
            </a:stretch>
          </a:blipFill>
          <a:ln cap="sq">
            <a:noFill/>
            <a:prstDash val="solid"/>
            <a:miter/>
          </a:ln>
        </p:spPr>
      </p:sp>
      <p:sp>
        <p:nvSpPr>
          <p:cNvPr id="12" name="Freeform 12"/>
          <p:cNvSpPr/>
          <p:nvPr/>
        </p:nvSpPr>
        <p:spPr>
          <a:xfrm>
            <a:off x="14122205" y="4104798"/>
            <a:ext cx="1990094" cy="1647970"/>
          </a:xfrm>
          <a:custGeom>
            <a:avLst/>
            <a:gdLst/>
            <a:ahLst/>
            <a:cxnLst/>
            <a:rect l="l" t="t" r="r" b="b"/>
            <a:pathLst>
              <a:path w="1990094" h="1647970">
                <a:moveTo>
                  <a:pt x="0" y="0"/>
                </a:moveTo>
                <a:lnTo>
                  <a:pt x="1990094" y="0"/>
                </a:lnTo>
                <a:lnTo>
                  <a:pt x="1990094" y="1647970"/>
                </a:lnTo>
                <a:lnTo>
                  <a:pt x="0" y="1647970"/>
                </a:lnTo>
                <a:lnTo>
                  <a:pt x="0" y="0"/>
                </a:lnTo>
                <a:close/>
              </a:path>
            </a:pathLst>
          </a:custGeom>
          <a:blipFill>
            <a:blip r:embed="rId11"/>
            <a:stretch>
              <a:fillRect r="-5918"/>
            </a:stretch>
          </a:blipFill>
          <a:ln cap="sq">
            <a:noFill/>
            <a:prstDash val="solid"/>
            <a:miter/>
          </a:ln>
        </p:spPr>
      </p:sp>
      <p:sp>
        <p:nvSpPr>
          <p:cNvPr id="13" name="TextBox 13"/>
          <p:cNvSpPr txBox="1"/>
          <p:nvPr/>
        </p:nvSpPr>
        <p:spPr>
          <a:xfrm>
            <a:off x="2984308" y="3199923"/>
            <a:ext cx="12275032" cy="609600"/>
          </a:xfrm>
          <a:prstGeom prst="rect">
            <a:avLst/>
          </a:prstGeom>
        </p:spPr>
        <p:txBody>
          <a:bodyPr lIns="0" tIns="0" rIns="0" bIns="0" rtlCol="0" anchor="t">
            <a:spAutoFit/>
          </a:bodyPr>
          <a:lstStyle/>
          <a:p>
            <a:pPr marL="0" lvl="0" indent="0" algn="ctr">
              <a:lnSpc>
                <a:spcPts val="4799"/>
              </a:lnSpc>
              <a:spcBef>
                <a:spcPct val="0"/>
              </a:spcBef>
            </a:pPr>
            <a:r>
              <a:rPr lang="en-US" sz="3999" u="none" strike="noStrike">
                <a:solidFill>
                  <a:srgbClr val="FFFFFF"/>
                </a:solidFill>
                <a:latin typeface="Arial"/>
                <a:ea typeface="Arial"/>
                <a:cs typeface="Arial"/>
                <a:sym typeface="Arial"/>
              </a:rPr>
              <a:t>Hệ thống chính</a:t>
            </a:r>
          </a:p>
        </p:txBody>
      </p:sp>
      <p:sp>
        <p:nvSpPr>
          <p:cNvPr id="14" name="TextBox 14"/>
          <p:cNvSpPr txBox="1"/>
          <p:nvPr/>
        </p:nvSpPr>
        <p:spPr>
          <a:xfrm>
            <a:off x="2779059" y="5954148"/>
            <a:ext cx="12275032" cy="609600"/>
          </a:xfrm>
          <a:prstGeom prst="rect">
            <a:avLst/>
          </a:prstGeom>
        </p:spPr>
        <p:txBody>
          <a:bodyPr lIns="0" tIns="0" rIns="0" bIns="0" rtlCol="0" anchor="t">
            <a:spAutoFit/>
          </a:bodyPr>
          <a:lstStyle/>
          <a:p>
            <a:pPr marL="0" lvl="0" indent="0" algn="ctr">
              <a:lnSpc>
                <a:spcPts val="4799"/>
              </a:lnSpc>
              <a:spcBef>
                <a:spcPct val="0"/>
              </a:spcBef>
            </a:pPr>
            <a:r>
              <a:rPr lang="en-US" sz="3999" u="none" strike="noStrike">
                <a:solidFill>
                  <a:srgbClr val="FFFFFF"/>
                </a:solidFill>
                <a:latin typeface="Arial"/>
                <a:ea typeface="Arial"/>
                <a:cs typeface="Arial"/>
                <a:sym typeface="Arial"/>
              </a:rPr>
              <a:t>Các công cụ hỗ trợ</a:t>
            </a:r>
          </a:p>
        </p:txBody>
      </p:sp>
      <p:sp>
        <p:nvSpPr>
          <p:cNvPr id="15" name="TextBox 15"/>
          <p:cNvSpPr txBox="1"/>
          <p:nvPr/>
        </p:nvSpPr>
        <p:spPr>
          <a:xfrm>
            <a:off x="4567725" y="8648700"/>
            <a:ext cx="9475760" cy="609600"/>
          </a:xfrm>
          <a:prstGeom prst="rect">
            <a:avLst/>
          </a:prstGeom>
        </p:spPr>
        <p:txBody>
          <a:bodyPr lIns="0" tIns="0" rIns="0" bIns="0" rtlCol="0" anchor="t">
            <a:spAutoFit/>
          </a:bodyPr>
          <a:lstStyle/>
          <a:p>
            <a:pPr marL="0" lvl="0" indent="0" algn="ctr">
              <a:lnSpc>
                <a:spcPts val="4799"/>
              </a:lnSpc>
              <a:spcBef>
                <a:spcPct val="0"/>
              </a:spcBef>
            </a:pPr>
            <a:r>
              <a:rPr lang="en-US" sz="3999" u="none" strike="noStrike">
                <a:solidFill>
                  <a:srgbClr val="FFFFFF"/>
                </a:solidFill>
                <a:latin typeface="Arial"/>
                <a:ea typeface="Arial"/>
                <a:cs typeface="Arial"/>
                <a:sym typeface="Arial"/>
              </a:rPr>
              <a:t>Triển khai hệ thống trên đám mây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033">
                <a:alpha val="100000"/>
              </a:srgbClr>
            </a:gs>
            <a:gs pos="100000">
              <a:srgbClr val="143993">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rot="4049991" flipH="1">
            <a:off x="877577" y="-2188177"/>
            <a:ext cx="16054900" cy="14984574"/>
          </a:xfrm>
          <a:custGeom>
            <a:avLst/>
            <a:gdLst/>
            <a:ahLst/>
            <a:cxnLst/>
            <a:rect l="l" t="t" r="r" b="b"/>
            <a:pathLst>
              <a:path w="16054900" h="14984574">
                <a:moveTo>
                  <a:pt x="16054901" y="0"/>
                </a:moveTo>
                <a:lnTo>
                  <a:pt x="0" y="0"/>
                </a:lnTo>
                <a:lnTo>
                  <a:pt x="0" y="14984574"/>
                </a:lnTo>
                <a:lnTo>
                  <a:pt x="16054901" y="14984574"/>
                </a:lnTo>
                <a:lnTo>
                  <a:pt x="16054901" y="0"/>
                </a:lnTo>
                <a:close/>
              </a:path>
            </a:pathLst>
          </a:custGeom>
          <a:blipFill>
            <a:blip>
              <a:alphaModFix amt="19999"/>
              <a:extLst>
                <a:ext uri="{96DAC541-7B7A-43D3-8B79-37D633B846F1}">
                  <asvg:svgBlip xmlns:asvg="http://schemas.microsoft.com/office/drawing/2016/SVG/main" r:embed="rId2"/>
                </a:ext>
              </a:extLst>
            </a:blip>
            <a:stretch>
              <a:fillRect/>
            </a:stretch>
          </a:blipFill>
        </p:spPr>
      </p:sp>
      <p:sp>
        <p:nvSpPr>
          <p:cNvPr id="3" name="Freeform 3"/>
          <p:cNvSpPr/>
          <p:nvPr/>
        </p:nvSpPr>
        <p:spPr>
          <a:xfrm>
            <a:off x="0" y="-13159"/>
            <a:ext cx="2779059" cy="2222253"/>
          </a:xfrm>
          <a:custGeom>
            <a:avLst/>
            <a:gdLst/>
            <a:ahLst/>
            <a:cxnLst/>
            <a:rect l="l" t="t" r="r" b="b"/>
            <a:pathLst>
              <a:path w="2779059" h="2222253">
                <a:moveTo>
                  <a:pt x="0" y="0"/>
                </a:moveTo>
                <a:lnTo>
                  <a:pt x="2779059" y="0"/>
                </a:lnTo>
                <a:lnTo>
                  <a:pt x="2779059" y="2222253"/>
                </a:lnTo>
                <a:lnTo>
                  <a:pt x="0" y="2222253"/>
                </a:lnTo>
                <a:lnTo>
                  <a:pt x="0" y="0"/>
                </a:lnTo>
                <a:close/>
              </a:path>
            </a:pathLst>
          </a:custGeom>
          <a:blipFill>
            <a:blip r:embed="rId3"/>
            <a:stretch>
              <a:fillRect/>
            </a:stretch>
          </a:blipFill>
        </p:spPr>
      </p:sp>
      <p:sp>
        <p:nvSpPr>
          <p:cNvPr id="4" name="Freeform 4"/>
          <p:cNvSpPr/>
          <p:nvPr/>
        </p:nvSpPr>
        <p:spPr>
          <a:xfrm>
            <a:off x="0" y="3325353"/>
            <a:ext cx="10013894" cy="8229600"/>
          </a:xfrm>
          <a:custGeom>
            <a:avLst/>
            <a:gdLst/>
            <a:ahLst/>
            <a:cxnLst/>
            <a:rect l="l" t="t" r="r" b="b"/>
            <a:pathLst>
              <a:path w="10013894" h="8229600">
                <a:moveTo>
                  <a:pt x="0" y="0"/>
                </a:moveTo>
                <a:lnTo>
                  <a:pt x="10013894" y="0"/>
                </a:lnTo>
                <a:lnTo>
                  <a:pt x="10013894" y="8229600"/>
                </a:lnTo>
                <a:lnTo>
                  <a:pt x="0" y="8229600"/>
                </a:lnTo>
                <a:lnTo>
                  <a:pt x="0" y="0"/>
                </a:lnTo>
                <a:close/>
              </a:path>
            </a:pathLst>
          </a:custGeom>
          <a:blipFill>
            <a:blip r:embed="rId4">
              <a:alphaModFix amt="19999"/>
            </a:blip>
            <a:stretch>
              <a:fillRect/>
            </a:stretch>
          </a:blipFill>
        </p:spPr>
      </p:sp>
      <p:grpSp>
        <p:nvGrpSpPr>
          <p:cNvPr id="5" name="Group 5"/>
          <p:cNvGrpSpPr/>
          <p:nvPr/>
        </p:nvGrpSpPr>
        <p:grpSpPr>
          <a:xfrm>
            <a:off x="519085" y="2552864"/>
            <a:ext cx="7786715" cy="5133552"/>
            <a:chOff x="0" y="-123825"/>
            <a:chExt cx="1579366" cy="950985"/>
          </a:xfrm>
        </p:grpSpPr>
        <p:sp>
          <p:nvSpPr>
            <p:cNvPr id="6" name="Freeform 6"/>
            <p:cNvSpPr/>
            <p:nvPr/>
          </p:nvSpPr>
          <p:spPr>
            <a:xfrm>
              <a:off x="0" y="0"/>
              <a:ext cx="1579366" cy="827160"/>
            </a:xfrm>
            <a:custGeom>
              <a:avLst/>
              <a:gdLst/>
              <a:ahLst/>
              <a:cxnLst/>
              <a:rect l="l" t="t" r="r" b="b"/>
              <a:pathLst>
                <a:path w="1579366" h="827160">
                  <a:moveTo>
                    <a:pt x="19700" y="0"/>
                  </a:moveTo>
                  <a:lnTo>
                    <a:pt x="1559666" y="0"/>
                  </a:lnTo>
                  <a:cubicBezTo>
                    <a:pt x="1564891" y="0"/>
                    <a:pt x="1569902" y="2075"/>
                    <a:pt x="1573596" y="5770"/>
                  </a:cubicBezTo>
                  <a:cubicBezTo>
                    <a:pt x="1577291" y="9464"/>
                    <a:pt x="1579366" y="14475"/>
                    <a:pt x="1579366" y="19700"/>
                  </a:cubicBezTo>
                  <a:lnTo>
                    <a:pt x="1579366" y="807460"/>
                  </a:lnTo>
                  <a:cubicBezTo>
                    <a:pt x="1579366" y="818340"/>
                    <a:pt x="1570546" y="827160"/>
                    <a:pt x="1559666" y="827160"/>
                  </a:cubicBezTo>
                  <a:lnTo>
                    <a:pt x="19700" y="827160"/>
                  </a:lnTo>
                  <a:cubicBezTo>
                    <a:pt x="8820" y="827160"/>
                    <a:pt x="0" y="818340"/>
                    <a:pt x="0" y="807460"/>
                  </a:cubicBezTo>
                  <a:lnTo>
                    <a:pt x="0" y="19700"/>
                  </a:lnTo>
                  <a:cubicBezTo>
                    <a:pt x="0" y="8820"/>
                    <a:pt x="8820" y="0"/>
                    <a:pt x="19700" y="0"/>
                  </a:cubicBezTo>
                  <a:close/>
                </a:path>
              </a:pathLst>
            </a:custGeom>
            <a:solidFill>
              <a:srgbClr val="240960"/>
            </a:solidFill>
          </p:spPr>
        </p:sp>
        <p:sp>
          <p:nvSpPr>
            <p:cNvPr id="7" name="TextBox 7"/>
            <p:cNvSpPr txBox="1"/>
            <p:nvPr/>
          </p:nvSpPr>
          <p:spPr>
            <a:xfrm>
              <a:off x="0" y="-123825"/>
              <a:ext cx="1579366" cy="950985"/>
            </a:xfrm>
            <a:prstGeom prst="rect">
              <a:avLst/>
            </a:prstGeom>
          </p:spPr>
          <p:txBody>
            <a:bodyPr lIns="127000" tIns="127000" rIns="127000" bIns="127000" rtlCol="0" anchor="ctr"/>
            <a:lstStyle/>
            <a:p>
              <a:pPr algn="just">
                <a:lnSpc>
                  <a:spcPts val="5999"/>
                </a:lnSpc>
              </a:pPr>
              <a:r>
                <a:rPr lang="en-US" sz="3999" dirty="0" err="1">
                  <a:solidFill>
                    <a:srgbClr val="FFFFFF"/>
                  </a:solidFill>
                  <a:latin typeface="Arial"/>
                  <a:ea typeface="Arial"/>
                  <a:cs typeface="Arial"/>
                  <a:sym typeface="Arial"/>
                </a:rPr>
                <a:t>Chức</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năng</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của</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quản</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trị</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viên</a:t>
              </a:r>
              <a:r>
                <a:rPr lang="en-US" sz="3999" dirty="0">
                  <a:solidFill>
                    <a:srgbClr val="FFFFFF"/>
                  </a:solidFill>
                  <a:latin typeface="Arial"/>
                  <a:ea typeface="Arial"/>
                  <a:cs typeface="Arial"/>
                  <a:sym typeface="Arial"/>
                </a:rPr>
                <a:t> (Admin):</a:t>
              </a:r>
            </a:p>
            <a:p>
              <a:pPr marL="863599" lvl="1" indent="-431800" algn="just">
                <a:lnSpc>
                  <a:spcPts val="5999"/>
                </a:lnSpc>
                <a:buFont typeface="Arial"/>
                <a:buChar char="•"/>
              </a:pPr>
              <a:r>
                <a:rPr lang="en-US" sz="3999" dirty="0" err="1">
                  <a:solidFill>
                    <a:srgbClr val="FFFFFF"/>
                  </a:solidFill>
                  <a:latin typeface="Arial"/>
                  <a:ea typeface="Arial"/>
                  <a:cs typeface="Arial"/>
                  <a:sym typeface="Arial"/>
                </a:rPr>
                <a:t>Tạo</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tài</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khoản</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nhân</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viên</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mới</a:t>
              </a:r>
              <a:r>
                <a:rPr lang="en-US" sz="3999" dirty="0">
                  <a:solidFill>
                    <a:srgbClr val="FFFFFF"/>
                  </a:solidFill>
                  <a:latin typeface="Arial"/>
                  <a:ea typeface="Arial"/>
                  <a:cs typeface="Arial"/>
                  <a:sym typeface="Arial"/>
                </a:rPr>
                <a:t>.</a:t>
              </a:r>
            </a:p>
            <a:p>
              <a:pPr marL="863599" lvl="1" indent="-431800" algn="just">
                <a:lnSpc>
                  <a:spcPts val="5999"/>
                </a:lnSpc>
                <a:buFont typeface="Arial"/>
                <a:buChar char="•"/>
              </a:pPr>
              <a:r>
                <a:rPr lang="en-US" sz="3999" dirty="0" err="1">
                  <a:solidFill>
                    <a:srgbClr val="FFFFFF"/>
                  </a:solidFill>
                  <a:latin typeface="Arial"/>
                  <a:ea typeface="Arial"/>
                  <a:cs typeface="Arial"/>
                  <a:sym typeface="Arial"/>
                </a:rPr>
                <a:t>Phê</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duyệt</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đơn</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xin</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nghỉ</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phép</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điều</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phối</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lịch</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làm</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việc</a:t>
              </a:r>
              <a:r>
                <a:rPr lang="en-US" sz="3999" dirty="0">
                  <a:solidFill>
                    <a:srgbClr val="FFFFFF"/>
                  </a:solidFill>
                  <a:latin typeface="Arial"/>
                  <a:ea typeface="Arial"/>
                  <a:cs typeface="Arial"/>
                  <a:sym typeface="Arial"/>
                </a:rPr>
                <a:t>.</a:t>
              </a:r>
            </a:p>
          </p:txBody>
        </p:sp>
      </p:grpSp>
      <p:grpSp>
        <p:nvGrpSpPr>
          <p:cNvPr id="8" name="Group 8"/>
          <p:cNvGrpSpPr/>
          <p:nvPr/>
        </p:nvGrpSpPr>
        <p:grpSpPr>
          <a:xfrm>
            <a:off x="10100921" y="3162300"/>
            <a:ext cx="7786714" cy="4543165"/>
            <a:chOff x="0" y="0"/>
            <a:chExt cx="1579366" cy="831080"/>
          </a:xfrm>
        </p:grpSpPr>
        <p:sp>
          <p:nvSpPr>
            <p:cNvPr id="9" name="Freeform 9"/>
            <p:cNvSpPr/>
            <p:nvPr/>
          </p:nvSpPr>
          <p:spPr>
            <a:xfrm>
              <a:off x="0" y="0"/>
              <a:ext cx="1579366" cy="831080"/>
            </a:xfrm>
            <a:custGeom>
              <a:avLst/>
              <a:gdLst/>
              <a:ahLst/>
              <a:cxnLst/>
              <a:rect l="l" t="t" r="r" b="b"/>
              <a:pathLst>
                <a:path w="1579366" h="831080">
                  <a:moveTo>
                    <a:pt x="27580" y="0"/>
                  </a:moveTo>
                  <a:lnTo>
                    <a:pt x="1551786" y="0"/>
                  </a:lnTo>
                  <a:cubicBezTo>
                    <a:pt x="1559101" y="0"/>
                    <a:pt x="1566116" y="2906"/>
                    <a:pt x="1571288" y="8078"/>
                  </a:cubicBezTo>
                  <a:cubicBezTo>
                    <a:pt x="1576460" y="13250"/>
                    <a:pt x="1579366" y="20265"/>
                    <a:pt x="1579366" y="27580"/>
                  </a:cubicBezTo>
                  <a:lnTo>
                    <a:pt x="1579366" y="803500"/>
                  </a:lnTo>
                  <a:cubicBezTo>
                    <a:pt x="1579366" y="818732"/>
                    <a:pt x="1567018" y="831080"/>
                    <a:pt x="1551786" y="831080"/>
                  </a:cubicBezTo>
                  <a:lnTo>
                    <a:pt x="27580" y="831080"/>
                  </a:lnTo>
                  <a:cubicBezTo>
                    <a:pt x="12348" y="831080"/>
                    <a:pt x="0" y="818732"/>
                    <a:pt x="0" y="803500"/>
                  </a:cubicBezTo>
                  <a:lnTo>
                    <a:pt x="0" y="27580"/>
                  </a:lnTo>
                  <a:cubicBezTo>
                    <a:pt x="0" y="12348"/>
                    <a:pt x="12348" y="0"/>
                    <a:pt x="27580" y="0"/>
                  </a:cubicBezTo>
                  <a:close/>
                </a:path>
              </a:pathLst>
            </a:custGeom>
            <a:gradFill rotWithShape="1">
              <a:gsLst>
                <a:gs pos="0">
                  <a:srgbClr val="011033">
                    <a:alpha val="100000"/>
                  </a:srgbClr>
                </a:gs>
                <a:gs pos="100000">
                  <a:srgbClr val="143993">
                    <a:alpha val="100000"/>
                  </a:srgbClr>
                </a:gs>
              </a:gsLst>
              <a:lin ang="5400000"/>
            </a:gradFill>
            <a:ln cap="rnd">
              <a:noFill/>
              <a:prstDash val="solid"/>
              <a:round/>
            </a:ln>
          </p:spPr>
        </p:sp>
        <p:sp>
          <p:nvSpPr>
            <p:cNvPr id="10" name="TextBox 10"/>
            <p:cNvSpPr txBox="1"/>
            <p:nvPr/>
          </p:nvSpPr>
          <p:spPr>
            <a:xfrm>
              <a:off x="0" y="-123825"/>
              <a:ext cx="1579366" cy="954905"/>
            </a:xfrm>
            <a:prstGeom prst="rect">
              <a:avLst/>
            </a:prstGeom>
          </p:spPr>
          <p:txBody>
            <a:bodyPr lIns="139700" tIns="139700" rIns="139700" bIns="139700" rtlCol="0" anchor="ctr"/>
            <a:lstStyle/>
            <a:p>
              <a:pPr algn="just">
                <a:lnSpc>
                  <a:spcPts val="5999"/>
                </a:lnSpc>
              </a:pPr>
              <a:r>
                <a:rPr lang="en-US" sz="3999" dirty="0" err="1">
                  <a:solidFill>
                    <a:srgbClr val="FFFFFF"/>
                  </a:solidFill>
                  <a:latin typeface="Arial"/>
                  <a:ea typeface="Arial"/>
                  <a:cs typeface="Arial"/>
                  <a:sym typeface="Arial"/>
                </a:rPr>
                <a:t>Chức</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năng</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của</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nhân</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viên</a:t>
              </a:r>
              <a:r>
                <a:rPr lang="en-US" sz="3999" dirty="0">
                  <a:solidFill>
                    <a:srgbClr val="FFFFFF"/>
                  </a:solidFill>
                  <a:latin typeface="Arial"/>
                  <a:ea typeface="Arial"/>
                  <a:cs typeface="Arial"/>
                  <a:sym typeface="Arial"/>
                </a:rPr>
                <a:t> (Staff): </a:t>
              </a:r>
            </a:p>
            <a:p>
              <a:pPr marL="863599" lvl="1" indent="-431800" algn="just">
                <a:lnSpc>
                  <a:spcPts val="5999"/>
                </a:lnSpc>
                <a:buFont typeface="Arial"/>
                <a:buChar char="•"/>
              </a:pPr>
              <a:r>
                <a:rPr lang="en-US" sz="3999" dirty="0">
                  <a:solidFill>
                    <a:srgbClr val="FFFFFF"/>
                  </a:solidFill>
                  <a:latin typeface="Arial"/>
                  <a:ea typeface="Arial"/>
                  <a:cs typeface="Arial"/>
                  <a:sym typeface="Arial"/>
                </a:rPr>
                <a:t>Quản </a:t>
              </a:r>
              <a:r>
                <a:rPr lang="en-US" sz="3999" dirty="0" err="1">
                  <a:solidFill>
                    <a:srgbClr val="FFFFFF"/>
                  </a:solidFill>
                  <a:latin typeface="Arial"/>
                  <a:ea typeface="Arial"/>
                  <a:cs typeface="Arial"/>
                  <a:sym typeface="Arial"/>
                </a:rPr>
                <a:t>lý</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công</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việc</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cá</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nhân</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đăng</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ký</a:t>
              </a:r>
              <a:r>
                <a:rPr lang="en-US" sz="3999" dirty="0">
                  <a:solidFill>
                    <a:srgbClr val="FFFFFF"/>
                  </a:solidFill>
                  <a:latin typeface="Arial"/>
                  <a:ea typeface="Arial"/>
                  <a:cs typeface="Arial"/>
                  <a:sym typeface="Arial"/>
                </a:rPr>
                <a:t> ca </a:t>
              </a:r>
              <a:r>
                <a:rPr lang="en-US" sz="3999" dirty="0" err="1">
                  <a:solidFill>
                    <a:srgbClr val="FFFFFF"/>
                  </a:solidFill>
                  <a:latin typeface="Arial"/>
                  <a:ea typeface="Arial"/>
                  <a:cs typeface="Arial"/>
                  <a:sym typeface="Arial"/>
                </a:rPr>
                <a:t>làm</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xin</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nghỉ</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phép</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theo</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dõi</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bảng</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lương</a:t>
              </a:r>
              <a:r>
                <a:rPr lang="en-US" sz="3999" dirty="0">
                  <a:solidFill>
                    <a:srgbClr val="FFFFFF"/>
                  </a:solidFill>
                  <a:latin typeface="Arial"/>
                  <a:ea typeface="Arial"/>
                  <a:cs typeface="Arial"/>
                  <a:sym typeface="Arial"/>
                </a:rPr>
                <a:t>). </a:t>
              </a:r>
            </a:p>
          </p:txBody>
        </p:sp>
      </p:grpSp>
      <p:sp>
        <p:nvSpPr>
          <p:cNvPr id="11" name="AutoShape 11"/>
          <p:cNvSpPr/>
          <p:nvPr/>
        </p:nvSpPr>
        <p:spPr>
          <a:xfrm>
            <a:off x="8194804" y="5676417"/>
            <a:ext cx="2017112" cy="9525"/>
          </a:xfrm>
          <a:prstGeom prst="line">
            <a:avLst/>
          </a:prstGeom>
          <a:ln w="219075" cap="flat">
            <a:gradFill>
              <a:gsLst>
                <a:gs pos="0">
                  <a:srgbClr val="FF66C4">
                    <a:alpha val="100000"/>
                  </a:srgbClr>
                </a:gs>
                <a:gs pos="100000">
                  <a:srgbClr val="FFDE59">
                    <a:alpha val="100000"/>
                  </a:srgbClr>
                </a:gs>
              </a:gsLst>
              <a:lin ang="0"/>
            </a:gradFill>
            <a:prstDash val="solid"/>
            <a:headEnd type="arrow" w="med" len="sm"/>
            <a:tailEnd type="arrow" w="med" len="sm"/>
          </a:ln>
        </p:spPr>
      </p:sp>
      <p:sp>
        <p:nvSpPr>
          <p:cNvPr id="12" name="Freeform 12"/>
          <p:cNvSpPr/>
          <p:nvPr/>
        </p:nvSpPr>
        <p:spPr>
          <a:xfrm>
            <a:off x="15165857" y="7858834"/>
            <a:ext cx="2721778" cy="2236806"/>
          </a:xfrm>
          <a:custGeom>
            <a:avLst/>
            <a:gdLst/>
            <a:ahLst/>
            <a:cxnLst/>
            <a:rect l="l" t="t" r="r" b="b"/>
            <a:pathLst>
              <a:path w="2721778" h="2236806">
                <a:moveTo>
                  <a:pt x="0" y="0"/>
                </a:moveTo>
                <a:lnTo>
                  <a:pt x="2721778" y="0"/>
                </a:lnTo>
                <a:lnTo>
                  <a:pt x="2721778" y="2236806"/>
                </a:lnTo>
                <a:lnTo>
                  <a:pt x="0" y="223680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2779059" y="745543"/>
            <a:ext cx="14865713" cy="695325"/>
          </a:xfrm>
          <a:prstGeom prst="rect">
            <a:avLst/>
          </a:prstGeom>
        </p:spPr>
        <p:txBody>
          <a:bodyPr lIns="0" tIns="0" rIns="0" bIns="0" rtlCol="0" anchor="t">
            <a:spAutoFit/>
          </a:bodyPr>
          <a:lstStyle/>
          <a:p>
            <a:pPr algn="ctr">
              <a:lnSpc>
                <a:spcPts val="5400"/>
              </a:lnSpc>
              <a:spcBef>
                <a:spcPct val="0"/>
              </a:spcBef>
            </a:pPr>
            <a:r>
              <a:rPr lang="en-US" sz="4500">
                <a:solidFill>
                  <a:srgbClr val="FF5757"/>
                </a:solidFill>
                <a:latin typeface="Sigmar One"/>
                <a:ea typeface="Sigmar One"/>
                <a:cs typeface="Sigmar One"/>
                <a:sym typeface="Sigmar One"/>
              </a:rPr>
              <a:t>III - PHÂN TÍCH VÀ THIẾT KẾ HỆ THỐNG</a:t>
            </a:r>
          </a:p>
        </p:txBody>
      </p:sp>
      <p:sp>
        <p:nvSpPr>
          <p:cNvPr id="14" name="TextBox 14"/>
          <p:cNvSpPr txBox="1"/>
          <p:nvPr/>
        </p:nvSpPr>
        <p:spPr>
          <a:xfrm>
            <a:off x="1507048" y="2199569"/>
            <a:ext cx="4793931" cy="695325"/>
          </a:xfrm>
          <a:prstGeom prst="rect">
            <a:avLst/>
          </a:prstGeom>
        </p:spPr>
        <p:txBody>
          <a:bodyPr lIns="0" tIns="0" rIns="0" bIns="0" rtlCol="0" anchor="t">
            <a:spAutoFit/>
          </a:bodyPr>
          <a:lstStyle/>
          <a:p>
            <a:pPr marL="971550" lvl="1" indent="-485775" algn="l">
              <a:lnSpc>
                <a:spcPts val="5400"/>
              </a:lnSpc>
              <a:spcBef>
                <a:spcPct val="0"/>
              </a:spcBef>
              <a:buAutoNum type="arabicPeriod"/>
            </a:pPr>
            <a:r>
              <a:rPr lang="en-US" sz="4500">
                <a:solidFill>
                  <a:srgbClr val="FFEB99"/>
                </a:solidFill>
                <a:latin typeface="Sigmar One"/>
                <a:ea typeface="Sigmar One"/>
                <a:cs typeface="Sigmar One"/>
                <a:sym typeface="Sigmar One"/>
              </a:rPr>
              <a:t>phân tích</a:t>
            </a:r>
          </a:p>
        </p:txBody>
      </p:sp>
      <p:sp>
        <p:nvSpPr>
          <p:cNvPr id="15" name="Freeform 15"/>
          <p:cNvSpPr/>
          <p:nvPr/>
        </p:nvSpPr>
        <p:spPr>
          <a:xfrm>
            <a:off x="151465" y="8779470"/>
            <a:ext cx="3752548" cy="1316170"/>
          </a:xfrm>
          <a:custGeom>
            <a:avLst/>
            <a:gdLst/>
            <a:ahLst/>
            <a:cxnLst/>
            <a:rect l="l" t="t" r="r" b="b"/>
            <a:pathLst>
              <a:path w="3752548" h="1316170">
                <a:moveTo>
                  <a:pt x="0" y="0"/>
                </a:moveTo>
                <a:lnTo>
                  <a:pt x="3752548" y="0"/>
                </a:lnTo>
                <a:lnTo>
                  <a:pt x="3752548" y="1316170"/>
                </a:lnTo>
                <a:lnTo>
                  <a:pt x="0" y="131617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6" name="Freeform 16"/>
          <p:cNvSpPr/>
          <p:nvPr/>
        </p:nvSpPr>
        <p:spPr>
          <a:xfrm>
            <a:off x="2779059" y="7858834"/>
            <a:ext cx="3752548" cy="1316170"/>
          </a:xfrm>
          <a:custGeom>
            <a:avLst/>
            <a:gdLst/>
            <a:ahLst/>
            <a:cxnLst/>
            <a:rect l="l" t="t" r="r" b="b"/>
            <a:pathLst>
              <a:path w="3752548" h="1316170">
                <a:moveTo>
                  <a:pt x="0" y="0"/>
                </a:moveTo>
                <a:lnTo>
                  <a:pt x="3752548" y="0"/>
                </a:lnTo>
                <a:lnTo>
                  <a:pt x="3752548" y="1316170"/>
                </a:lnTo>
                <a:lnTo>
                  <a:pt x="0" y="131617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7" name="Freeform 17"/>
          <p:cNvSpPr/>
          <p:nvPr/>
        </p:nvSpPr>
        <p:spPr>
          <a:xfrm>
            <a:off x="3653152" y="8970830"/>
            <a:ext cx="3752548" cy="1316170"/>
          </a:xfrm>
          <a:custGeom>
            <a:avLst/>
            <a:gdLst/>
            <a:ahLst/>
            <a:cxnLst/>
            <a:rect l="l" t="t" r="r" b="b"/>
            <a:pathLst>
              <a:path w="3752548" h="1316170">
                <a:moveTo>
                  <a:pt x="0" y="0"/>
                </a:moveTo>
                <a:lnTo>
                  <a:pt x="3752547" y="0"/>
                </a:lnTo>
                <a:lnTo>
                  <a:pt x="3752547" y="1316170"/>
                </a:lnTo>
                <a:lnTo>
                  <a:pt x="0" y="131617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8" name="Freeform 18"/>
          <p:cNvSpPr/>
          <p:nvPr/>
        </p:nvSpPr>
        <p:spPr>
          <a:xfrm>
            <a:off x="7028754" y="8600215"/>
            <a:ext cx="3752548" cy="1316170"/>
          </a:xfrm>
          <a:custGeom>
            <a:avLst/>
            <a:gdLst/>
            <a:ahLst/>
            <a:cxnLst/>
            <a:rect l="l" t="t" r="r" b="b"/>
            <a:pathLst>
              <a:path w="3752548" h="1316170">
                <a:moveTo>
                  <a:pt x="0" y="0"/>
                </a:moveTo>
                <a:lnTo>
                  <a:pt x="3752547" y="0"/>
                </a:lnTo>
                <a:lnTo>
                  <a:pt x="3752547" y="1316170"/>
                </a:lnTo>
                <a:lnTo>
                  <a:pt x="0" y="1316170"/>
                </a:lnTo>
                <a:lnTo>
                  <a:pt x="0" y="0"/>
                </a:lnTo>
                <a:close/>
              </a:path>
            </a:pathLst>
          </a:custGeom>
          <a:blipFill>
            <a:blip>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033">
                <a:alpha val="100000"/>
              </a:srgbClr>
            </a:gs>
            <a:gs pos="100000">
              <a:srgbClr val="143993">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13159"/>
            <a:ext cx="2779059" cy="2222253"/>
          </a:xfrm>
          <a:custGeom>
            <a:avLst/>
            <a:gdLst/>
            <a:ahLst/>
            <a:cxnLst/>
            <a:rect l="l" t="t" r="r" b="b"/>
            <a:pathLst>
              <a:path w="2779059" h="2222253">
                <a:moveTo>
                  <a:pt x="0" y="0"/>
                </a:moveTo>
                <a:lnTo>
                  <a:pt x="2779059" y="0"/>
                </a:lnTo>
                <a:lnTo>
                  <a:pt x="2779059" y="2222253"/>
                </a:lnTo>
                <a:lnTo>
                  <a:pt x="0" y="2222253"/>
                </a:lnTo>
                <a:lnTo>
                  <a:pt x="0" y="0"/>
                </a:lnTo>
                <a:close/>
              </a:path>
            </a:pathLst>
          </a:custGeom>
          <a:blipFill>
            <a:blip r:embed="rId2"/>
            <a:stretch>
              <a:fillRect/>
            </a:stretch>
          </a:blipFill>
        </p:spPr>
      </p:sp>
      <p:grpSp>
        <p:nvGrpSpPr>
          <p:cNvPr id="3" name="Group 3"/>
          <p:cNvGrpSpPr/>
          <p:nvPr/>
        </p:nvGrpSpPr>
        <p:grpSpPr>
          <a:xfrm>
            <a:off x="501602" y="3238502"/>
            <a:ext cx="7804198" cy="4905262"/>
            <a:chOff x="0" y="0"/>
            <a:chExt cx="1579366" cy="942792"/>
          </a:xfrm>
        </p:grpSpPr>
        <p:sp>
          <p:nvSpPr>
            <p:cNvPr id="4" name="Freeform 4"/>
            <p:cNvSpPr/>
            <p:nvPr/>
          </p:nvSpPr>
          <p:spPr>
            <a:xfrm>
              <a:off x="0" y="0"/>
              <a:ext cx="1579366" cy="942792"/>
            </a:xfrm>
            <a:custGeom>
              <a:avLst/>
              <a:gdLst/>
              <a:ahLst/>
              <a:cxnLst/>
              <a:rect l="l" t="t" r="r" b="b"/>
              <a:pathLst>
                <a:path w="1579366" h="942792">
                  <a:moveTo>
                    <a:pt x="19700" y="0"/>
                  </a:moveTo>
                  <a:lnTo>
                    <a:pt x="1559666" y="0"/>
                  </a:lnTo>
                  <a:cubicBezTo>
                    <a:pt x="1564891" y="0"/>
                    <a:pt x="1569902" y="2075"/>
                    <a:pt x="1573596" y="5770"/>
                  </a:cubicBezTo>
                  <a:cubicBezTo>
                    <a:pt x="1577291" y="9464"/>
                    <a:pt x="1579366" y="14475"/>
                    <a:pt x="1579366" y="19700"/>
                  </a:cubicBezTo>
                  <a:lnTo>
                    <a:pt x="1579366" y="923093"/>
                  </a:lnTo>
                  <a:cubicBezTo>
                    <a:pt x="1579366" y="933973"/>
                    <a:pt x="1570546" y="942792"/>
                    <a:pt x="1559666" y="942792"/>
                  </a:cubicBezTo>
                  <a:lnTo>
                    <a:pt x="19700" y="942792"/>
                  </a:lnTo>
                  <a:cubicBezTo>
                    <a:pt x="8820" y="942792"/>
                    <a:pt x="0" y="933973"/>
                    <a:pt x="0" y="923093"/>
                  </a:cubicBezTo>
                  <a:lnTo>
                    <a:pt x="0" y="19700"/>
                  </a:lnTo>
                  <a:cubicBezTo>
                    <a:pt x="0" y="8820"/>
                    <a:pt x="8820" y="0"/>
                    <a:pt x="19700" y="0"/>
                  </a:cubicBezTo>
                  <a:close/>
                </a:path>
              </a:pathLst>
            </a:custGeom>
            <a:solidFill>
              <a:srgbClr val="240960"/>
            </a:solidFill>
          </p:spPr>
        </p:sp>
        <p:sp>
          <p:nvSpPr>
            <p:cNvPr id="5" name="TextBox 5"/>
            <p:cNvSpPr txBox="1"/>
            <p:nvPr/>
          </p:nvSpPr>
          <p:spPr>
            <a:xfrm>
              <a:off x="0" y="-123825"/>
              <a:ext cx="1579366" cy="1066617"/>
            </a:xfrm>
            <a:prstGeom prst="rect">
              <a:avLst/>
            </a:prstGeom>
          </p:spPr>
          <p:txBody>
            <a:bodyPr lIns="0" tIns="0" rIns="0" bIns="0" rtlCol="0" anchor="ctr"/>
            <a:lstStyle/>
            <a:p>
              <a:pPr algn="just">
                <a:lnSpc>
                  <a:spcPts val="5999"/>
                </a:lnSpc>
              </a:pPr>
              <a:r>
                <a:rPr lang="en-US" sz="3999" dirty="0" err="1">
                  <a:solidFill>
                    <a:srgbClr val="FFFFFF"/>
                  </a:solidFill>
                  <a:latin typeface="Arial"/>
                  <a:ea typeface="Arial"/>
                  <a:cs typeface="Arial"/>
                  <a:sym typeface="Arial"/>
                </a:rPr>
                <a:t>Chức</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năng</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của</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huấn</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luyện</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viên</a:t>
              </a:r>
              <a:r>
                <a:rPr lang="en-US" sz="3999" dirty="0">
                  <a:solidFill>
                    <a:srgbClr val="FFFFFF"/>
                  </a:solidFill>
                  <a:latin typeface="Arial"/>
                  <a:ea typeface="Arial"/>
                  <a:cs typeface="Arial"/>
                  <a:sym typeface="Arial"/>
                </a:rPr>
                <a:t> (Staff): </a:t>
              </a:r>
            </a:p>
            <a:p>
              <a:pPr marL="863599" lvl="1" indent="-431800" algn="just">
                <a:lnSpc>
                  <a:spcPts val="5999"/>
                </a:lnSpc>
                <a:buFont typeface="Arial"/>
                <a:buChar char="•"/>
              </a:pPr>
              <a:r>
                <a:rPr lang="en-US" sz="3999" dirty="0" err="1">
                  <a:solidFill>
                    <a:srgbClr val="FFFFFF"/>
                  </a:solidFill>
                  <a:latin typeface="Arial"/>
                  <a:ea typeface="Arial"/>
                  <a:cs typeface="Arial"/>
                  <a:sym typeface="Arial"/>
                </a:rPr>
                <a:t>Đo</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đạc</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và</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cập</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nhật</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định</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kỳ</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chỉ</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số</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cơ</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thể</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khách</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hàng</a:t>
              </a:r>
              <a:r>
                <a:rPr lang="en-US" sz="3999" dirty="0">
                  <a:solidFill>
                    <a:srgbClr val="FFFFFF"/>
                  </a:solidFill>
                  <a:latin typeface="Arial"/>
                  <a:ea typeface="Arial"/>
                  <a:cs typeface="Arial"/>
                  <a:sym typeface="Arial"/>
                </a:rPr>
                <a:t>.</a:t>
              </a:r>
            </a:p>
            <a:p>
              <a:pPr marL="863599" lvl="1" indent="-431800" algn="just">
                <a:lnSpc>
                  <a:spcPts val="5999"/>
                </a:lnSpc>
                <a:buFont typeface="Arial"/>
                <a:buChar char="•"/>
              </a:pPr>
              <a:r>
                <a:rPr lang="en-US" sz="3999" dirty="0" err="1">
                  <a:solidFill>
                    <a:srgbClr val="FFFFFF"/>
                  </a:solidFill>
                  <a:latin typeface="Arial"/>
                  <a:ea typeface="Arial"/>
                  <a:cs typeface="Arial"/>
                  <a:sym typeface="Arial"/>
                </a:rPr>
                <a:t>Nhắn</a:t>
              </a:r>
              <a:r>
                <a:rPr lang="en-US" sz="3999" dirty="0">
                  <a:solidFill>
                    <a:srgbClr val="FFFFFF"/>
                  </a:solidFill>
                  <a:latin typeface="Arial"/>
                  <a:ea typeface="Arial"/>
                  <a:cs typeface="Arial"/>
                  <a:sym typeface="Arial"/>
                </a:rPr>
                <a:t> tin </a:t>
              </a:r>
              <a:r>
                <a:rPr lang="en-US" sz="3999" dirty="0" err="1">
                  <a:solidFill>
                    <a:srgbClr val="FFFFFF"/>
                  </a:solidFill>
                  <a:latin typeface="Arial"/>
                  <a:ea typeface="Arial"/>
                  <a:cs typeface="Arial"/>
                  <a:sym typeface="Arial"/>
                </a:rPr>
                <a:t>trực</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tiếp</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hỗ</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trợ</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khách</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hàng</a:t>
              </a:r>
              <a:r>
                <a:rPr lang="en-US" sz="3999" dirty="0">
                  <a:solidFill>
                    <a:srgbClr val="FFFFFF"/>
                  </a:solidFill>
                  <a:latin typeface="Arial"/>
                  <a:ea typeface="Arial"/>
                  <a:cs typeface="Arial"/>
                  <a:sym typeface="Arial"/>
                </a:rPr>
                <a:t>. </a:t>
              </a:r>
            </a:p>
          </p:txBody>
        </p:sp>
      </p:grpSp>
      <p:grpSp>
        <p:nvGrpSpPr>
          <p:cNvPr id="6" name="Group 6"/>
          <p:cNvGrpSpPr/>
          <p:nvPr/>
        </p:nvGrpSpPr>
        <p:grpSpPr>
          <a:xfrm>
            <a:off x="9764280" y="3238502"/>
            <a:ext cx="7804198" cy="4905261"/>
            <a:chOff x="0" y="0"/>
            <a:chExt cx="1579366" cy="942792"/>
          </a:xfrm>
        </p:grpSpPr>
        <p:sp>
          <p:nvSpPr>
            <p:cNvPr id="7" name="Freeform 7"/>
            <p:cNvSpPr/>
            <p:nvPr/>
          </p:nvSpPr>
          <p:spPr>
            <a:xfrm>
              <a:off x="0" y="0"/>
              <a:ext cx="1579366" cy="942792"/>
            </a:xfrm>
            <a:custGeom>
              <a:avLst/>
              <a:gdLst/>
              <a:ahLst/>
              <a:cxnLst/>
              <a:rect l="l" t="t" r="r" b="b"/>
              <a:pathLst>
                <a:path w="1579366" h="942792">
                  <a:moveTo>
                    <a:pt x="19700" y="0"/>
                  </a:moveTo>
                  <a:lnTo>
                    <a:pt x="1559666" y="0"/>
                  </a:lnTo>
                  <a:cubicBezTo>
                    <a:pt x="1564891" y="0"/>
                    <a:pt x="1569902" y="2075"/>
                    <a:pt x="1573596" y="5770"/>
                  </a:cubicBezTo>
                  <a:cubicBezTo>
                    <a:pt x="1577291" y="9464"/>
                    <a:pt x="1579366" y="14475"/>
                    <a:pt x="1579366" y="19700"/>
                  </a:cubicBezTo>
                  <a:lnTo>
                    <a:pt x="1579366" y="923093"/>
                  </a:lnTo>
                  <a:cubicBezTo>
                    <a:pt x="1579366" y="933973"/>
                    <a:pt x="1570546" y="942792"/>
                    <a:pt x="1559666" y="942792"/>
                  </a:cubicBezTo>
                  <a:lnTo>
                    <a:pt x="19700" y="942792"/>
                  </a:lnTo>
                  <a:cubicBezTo>
                    <a:pt x="8820" y="942792"/>
                    <a:pt x="0" y="933973"/>
                    <a:pt x="0" y="923093"/>
                  </a:cubicBezTo>
                  <a:lnTo>
                    <a:pt x="0" y="19700"/>
                  </a:lnTo>
                  <a:cubicBezTo>
                    <a:pt x="0" y="8820"/>
                    <a:pt x="8820" y="0"/>
                    <a:pt x="19700" y="0"/>
                  </a:cubicBezTo>
                  <a:close/>
                </a:path>
              </a:pathLst>
            </a:custGeom>
            <a:solidFill>
              <a:srgbClr val="240960"/>
            </a:solidFill>
          </p:spPr>
        </p:sp>
        <p:sp>
          <p:nvSpPr>
            <p:cNvPr id="8" name="TextBox 8"/>
            <p:cNvSpPr txBox="1"/>
            <p:nvPr/>
          </p:nvSpPr>
          <p:spPr>
            <a:xfrm>
              <a:off x="0" y="-123825"/>
              <a:ext cx="1579366" cy="1066617"/>
            </a:xfrm>
            <a:prstGeom prst="rect">
              <a:avLst/>
            </a:prstGeom>
          </p:spPr>
          <p:txBody>
            <a:bodyPr lIns="0" tIns="0" rIns="0" bIns="0" rtlCol="0" anchor="ctr"/>
            <a:lstStyle/>
            <a:p>
              <a:pPr algn="just">
                <a:lnSpc>
                  <a:spcPts val="5999"/>
                </a:lnSpc>
              </a:pPr>
              <a:r>
                <a:rPr lang="en-US" sz="3999" dirty="0" err="1">
                  <a:solidFill>
                    <a:srgbClr val="FFFFFF"/>
                  </a:solidFill>
                  <a:latin typeface="Arial"/>
                  <a:ea typeface="Arial"/>
                  <a:cs typeface="Arial"/>
                  <a:sym typeface="Arial"/>
                </a:rPr>
                <a:t>Chức</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năng</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của</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khách</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hàng</a:t>
              </a:r>
              <a:r>
                <a:rPr lang="en-US" sz="3999" dirty="0">
                  <a:solidFill>
                    <a:srgbClr val="FFFFFF"/>
                  </a:solidFill>
                  <a:latin typeface="Arial"/>
                  <a:ea typeface="Arial"/>
                  <a:cs typeface="Arial"/>
                  <a:sym typeface="Arial"/>
                </a:rPr>
                <a:t> (Customer): </a:t>
              </a:r>
            </a:p>
            <a:p>
              <a:pPr marL="863599" lvl="1" indent="-431800" algn="just">
                <a:lnSpc>
                  <a:spcPts val="5999"/>
                </a:lnSpc>
                <a:buFont typeface="Arial"/>
                <a:buChar char="•"/>
              </a:pPr>
              <a:r>
                <a:rPr lang="en-US" sz="3999" dirty="0" err="1">
                  <a:solidFill>
                    <a:srgbClr val="FFFFFF"/>
                  </a:solidFill>
                  <a:latin typeface="Arial"/>
                  <a:ea typeface="Arial"/>
                  <a:cs typeface="Arial"/>
                  <a:sym typeface="Arial"/>
                </a:rPr>
                <a:t>Cập</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nhật</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chỉ</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số</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hình</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thể</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đặt</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lịch</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hẹn</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tập</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luyện</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với</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huấn</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luyện</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viên</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theo</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khung</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giờ</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khả</a:t>
              </a:r>
              <a:r>
                <a:rPr lang="en-US" sz="3999" dirty="0">
                  <a:solidFill>
                    <a:srgbClr val="FFFFFF"/>
                  </a:solidFill>
                  <a:latin typeface="Arial"/>
                  <a:ea typeface="Arial"/>
                  <a:cs typeface="Arial"/>
                  <a:sym typeface="Arial"/>
                </a:rPr>
                <a:t> </a:t>
              </a:r>
              <a:r>
                <a:rPr lang="en-US" sz="3999" dirty="0" err="1">
                  <a:solidFill>
                    <a:srgbClr val="FFFFFF"/>
                  </a:solidFill>
                  <a:latin typeface="Arial"/>
                  <a:ea typeface="Arial"/>
                  <a:cs typeface="Arial"/>
                  <a:sym typeface="Arial"/>
                </a:rPr>
                <a:t>dụng</a:t>
              </a:r>
              <a:r>
                <a:rPr lang="en-US" sz="3999" dirty="0">
                  <a:solidFill>
                    <a:srgbClr val="FFFFFF"/>
                  </a:solidFill>
                  <a:latin typeface="Arial"/>
                  <a:ea typeface="Arial"/>
                  <a:cs typeface="Arial"/>
                  <a:sym typeface="Arial"/>
                </a:rPr>
                <a:t>.</a:t>
              </a:r>
            </a:p>
          </p:txBody>
        </p:sp>
      </p:grpSp>
      <p:sp>
        <p:nvSpPr>
          <p:cNvPr id="9" name="AutoShape 9"/>
          <p:cNvSpPr/>
          <p:nvPr/>
        </p:nvSpPr>
        <p:spPr>
          <a:xfrm>
            <a:off x="8177321" y="5852778"/>
            <a:ext cx="1715437" cy="0"/>
          </a:xfrm>
          <a:prstGeom prst="line">
            <a:avLst/>
          </a:prstGeom>
          <a:ln w="219075" cap="flat">
            <a:gradFill>
              <a:gsLst>
                <a:gs pos="0">
                  <a:srgbClr val="FF66C4">
                    <a:alpha val="100000"/>
                  </a:srgbClr>
                </a:gs>
                <a:gs pos="100000">
                  <a:srgbClr val="FFDE59">
                    <a:alpha val="100000"/>
                  </a:srgbClr>
                </a:gs>
              </a:gsLst>
              <a:lin ang="0"/>
            </a:gradFill>
            <a:prstDash val="solid"/>
            <a:headEnd type="arrow" w="med" len="sm"/>
            <a:tailEnd type="arrow" w="med" len="sm"/>
          </a:ln>
        </p:spPr>
      </p:sp>
      <p:sp>
        <p:nvSpPr>
          <p:cNvPr id="10" name="Freeform 10"/>
          <p:cNvSpPr/>
          <p:nvPr/>
        </p:nvSpPr>
        <p:spPr>
          <a:xfrm>
            <a:off x="2625674" y="8418265"/>
            <a:ext cx="1929099" cy="1680070"/>
          </a:xfrm>
          <a:custGeom>
            <a:avLst/>
            <a:gdLst/>
            <a:ahLst/>
            <a:cxnLst/>
            <a:rect l="l" t="t" r="r" b="b"/>
            <a:pathLst>
              <a:path w="1929099" h="1680070">
                <a:moveTo>
                  <a:pt x="0" y="0"/>
                </a:moveTo>
                <a:lnTo>
                  <a:pt x="1929098" y="0"/>
                </a:lnTo>
                <a:lnTo>
                  <a:pt x="1929098" y="1680070"/>
                </a:lnTo>
                <a:lnTo>
                  <a:pt x="0" y="168007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Freeform 11"/>
          <p:cNvSpPr/>
          <p:nvPr/>
        </p:nvSpPr>
        <p:spPr>
          <a:xfrm>
            <a:off x="8061405" y="8143764"/>
            <a:ext cx="2165190" cy="1736089"/>
          </a:xfrm>
          <a:custGeom>
            <a:avLst/>
            <a:gdLst/>
            <a:ahLst/>
            <a:cxnLst/>
            <a:rect l="l" t="t" r="r" b="b"/>
            <a:pathLst>
              <a:path w="2165190" h="1736089">
                <a:moveTo>
                  <a:pt x="0" y="0"/>
                </a:moveTo>
                <a:lnTo>
                  <a:pt x="2165190" y="0"/>
                </a:lnTo>
                <a:lnTo>
                  <a:pt x="2165190" y="1736089"/>
                </a:lnTo>
                <a:lnTo>
                  <a:pt x="0" y="173608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Freeform 12"/>
          <p:cNvSpPr/>
          <p:nvPr/>
        </p:nvSpPr>
        <p:spPr>
          <a:xfrm>
            <a:off x="12916934" y="8940623"/>
            <a:ext cx="4291024" cy="741177"/>
          </a:xfrm>
          <a:custGeom>
            <a:avLst/>
            <a:gdLst/>
            <a:ahLst/>
            <a:cxnLst/>
            <a:rect l="l" t="t" r="r" b="b"/>
            <a:pathLst>
              <a:path w="4291024" h="741177">
                <a:moveTo>
                  <a:pt x="0" y="0"/>
                </a:moveTo>
                <a:lnTo>
                  <a:pt x="4291024" y="0"/>
                </a:lnTo>
                <a:lnTo>
                  <a:pt x="4291024" y="741177"/>
                </a:lnTo>
                <a:lnTo>
                  <a:pt x="0" y="74117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2873092" y="533779"/>
            <a:ext cx="14865713" cy="695325"/>
          </a:xfrm>
          <a:prstGeom prst="rect">
            <a:avLst/>
          </a:prstGeom>
        </p:spPr>
        <p:txBody>
          <a:bodyPr lIns="0" tIns="0" rIns="0" bIns="0" rtlCol="0" anchor="t">
            <a:spAutoFit/>
          </a:bodyPr>
          <a:lstStyle/>
          <a:p>
            <a:pPr algn="ctr">
              <a:lnSpc>
                <a:spcPts val="5400"/>
              </a:lnSpc>
              <a:spcBef>
                <a:spcPct val="0"/>
              </a:spcBef>
            </a:pPr>
            <a:r>
              <a:rPr lang="en-US" sz="4500">
                <a:solidFill>
                  <a:srgbClr val="FF5757"/>
                </a:solidFill>
                <a:latin typeface="Sigmar One"/>
                <a:ea typeface="Sigmar One"/>
                <a:cs typeface="Sigmar One"/>
                <a:sym typeface="Sigmar One"/>
              </a:rPr>
              <a:t>III - PHÂN TÍCH VÀ THIẾT KẾ HỆ THỐNG</a:t>
            </a:r>
          </a:p>
        </p:txBody>
      </p:sp>
      <p:sp>
        <p:nvSpPr>
          <p:cNvPr id="14" name="TextBox 14"/>
          <p:cNvSpPr txBox="1"/>
          <p:nvPr/>
        </p:nvSpPr>
        <p:spPr>
          <a:xfrm>
            <a:off x="1628764" y="1856669"/>
            <a:ext cx="4674313" cy="695325"/>
          </a:xfrm>
          <a:prstGeom prst="rect">
            <a:avLst/>
          </a:prstGeom>
        </p:spPr>
        <p:txBody>
          <a:bodyPr lIns="0" tIns="0" rIns="0" bIns="0" rtlCol="0" anchor="t">
            <a:spAutoFit/>
          </a:bodyPr>
          <a:lstStyle/>
          <a:p>
            <a:pPr marL="971550" lvl="1" indent="-485775" algn="l">
              <a:lnSpc>
                <a:spcPts val="5400"/>
              </a:lnSpc>
              <a:spcBef>
                <a:spcPct val="0"/>
              </a:spcBef>
              <a:buAutoNum type="arabicPeriod"/>
            </a:pPr>
            <a:r>
              <a:rPr lang="en-US" sz="4500">
                <a:solidFill>
                  <a:srgbClr val="FFEB99"/>
                </a:solidFill>
                <a:latin typeface="Sigmar One"/>
                <a:ea typeface="Sigmar One"/>
                <a:cs typeface="Sigmar One"/>
                <a:sym typeface="Sigmar One"/>
              </a:rPr>
              <a:t>phân tích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033">
                <a:alpha val="100000"/>
              </a:srgbClr>
            </a:gs>
            <a:gs pos="100000">
              <a:srgbClr val="143993">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13159"/>
            <a:ext cx="2779059" cy="2222253"/>
          </a:xfrm>
          <a:custGeom>
            <a:avLst/>
            <a:gdLst/>
            <a:ahLst/>
            <a:cxnLst/>
            <a:rect l="l" t="t" r="r" b="b"/>
            <a:pathLst>
              <a:path w="2779059" h="2222253">
                <a:moveTo>
                  <a:pt x="0" y="0"/>
                </a:moveTo>
                <a:lnTo>
                  <a:pt x="2779059" y="0"/>
                </a:lnTo>
                <a:lnTo>
                  <a:pt x="2779059" y="2222253"/>
                </a:lnTo>
                <a:lnTo>
                  <a:pt x="0" y="2222253"/>
                </a:lnTo>
                <a:lnTo>
                  <a:pt x="0" y="0"/>
                </a:lnTo>
                <a:close/>
              </a:path>
            </a:pathLst>
          </a:custGeom>
          <a:blipFill>
            <a:blip r:embed="rId2"/>
            <a:stretch>
              <a:fillRect/>
            </a:stretch>
          </a:blipFill>
        </p:spPr>
      </p:sp>
      <p:sp>
        <p:nvSpPr>
          <p:cNvPr id="3" name="TextBox 3"/>
          <p:cNvSpPr txBox="1"/>
          <p:nvPr/>
        </p:nvSpPr>
        <p:spPr>
          <a:xfrm>
            <a:off x="7936733" y="1301106"/>
            <a:ext cx="10224559" cy="695325"/>
          </a:xfrm>
          <a:prstGeom prst="rect">
            <a:avLst/>
          </a:prstGeom>
        </p:spPr>
        <p:txBody>
          <a:bodyPr lIns="0" tIns="0" rIns="0" bIns="0" rtlCol="0" anchor="t">
            <a:spAutoFit/>
          </a:bodyPr>
          <a:lstStyle/>
          <a:p>
            <a:pPr algn="ctr">
              <a:lnSpc>
                <a:spcPts val="5400"/>
              </a:lnSpc>
              <a:spcBef>
                <a:spcPct val="0"/>
              </a:spcBef>
            </a:pPr>
            <a:r>
              <a:rPr lang="en-US" sz="4500">
                <a:solidFill>
                  <a:srgbClr val="FFEB99"/>
                </a:solidFill>
                <a:latin typeface="Sigmar One"/>
                <a:ea typeface="Sigmar One"/>
                <a:cs typeface="Sigmar One"/>
                <a:sym typeface="Sigmar One"/>
              </a:rPr>
              <a:t>2.THIẾT KẾ HỆ THỐNG</a:t>
            </a:r>
          </a:p>
        </p:txBody>
      </p:sp>
      <p:grpSp>
        <p:nvGrpSpPr>
          <p:cNvPr id="4" name="Group 4"/>
          <p:cNvGrpSpPr/>
          <p:nvPr/>
        </p:nvGrpSpPr>
        <p:grpSpPr>
          <a:xfrm>
            <a:off x="7655164" y="1996431"/>
            <a:ext cx="10083642" cy="7880734"/>
            <a:chOff x="0" y="0"/>
            <a:chExt cx="2016887" cy="1577792"/>
          </a:xfrm>
        </p:grpSpPr>
        <p:sp>
          <p:nvSpPr>
            <p:cNvPr id="5" name="Freeform 5"/>
            <p:cNvSpPr/>
            <p:nvPr/>
          </p:nvSpPr>
          <p:spPr>
            <a:xfrm>
              <a:off x="0" y="0"/>
              <a:ext cx="2016887" cy="1577792"/>
            </a:xfrm>
            <a:custGeom>
              <a:avLst/>
              <a:gdLst/>
              <a:ahLst/>
              <a:cxnLst/>
              <a:rect l="l" t="t" r="r" b="b"/>
              <a:pathLst>
                <a:path w="2016887" h="1577792">
                  <a:moveTo>
                    <a:pt x="0" y="0"/>
                  </a:moveTo>
                  <a:lnTo>
                    <a:pt x="2016887" y="0"/>
                  </a:lnTo>
                  <a:lnTo>
                    <a:pt x="2016887" y="1577792"/>
                  </a:lnTo>
                  <a:lnTo>
                    <a:pt x="0" y="1577792"/>
                  </a:lnTo>
                  <a:close/>
                </a:path>
              </a:pathLst>
            </a:custGeom>
            <a:solidFill>
              <a:srgbClr val="240960"/>
            </a:solidFill>
            <a:ln cap="sq">
              <a:noFill/>
              <a:prstDash val="solid"/>
              <a:miter/>
            </a:ln>
          </p:spPr>
        </p:sp>
        <p:sp>
          <p:nvSpPr>
            <p:cNvPr id="6" name="TextBox 6"/>
            <p:cNvSpPr txBox="1"/>
            <p:nvPr/>
          </p:nvSpPr>
          <p:spPr>
            <a:xfrm>
              <a:off x="0" y="-123825"/>
              <a:ext cx="2016887" cy="1701617"/>
            </a:xfrm>
            <a:prstGeom prst="rect">
              <a:avLst/>
            </a:prstGeom>
          </p:spPr>
          <p:txBody>
            <a:bodyPr lIns="50800" tIns="50800" rIns="50800" bIns="50800" rtlCol="0" anchor="ctr"/>
            <a:lstStyle/>
            <a:p>
              <a:pPr marL="863599" lvl="1" indent="-431800" algn="just">
                <a:lnSpc>
                  <a:spcPts val="5999"/>
                </a:lnSpc>
                <a:buFont typeface="Arial"/>
                <a:buChar char="•"/>
              </a:pPr>
              <a:r>
                <a:rPr lang="en-US" sz="3999" u="none" strike="noStrike" dirty="0" err="1">
                  <a:solidFill>
                    <a:srgbClr val="FFFFFF"/>
                  </a:solidFill>
                  <a:latin typeface="Arial"/>
                  <a:ea typeface="Arial"/>
                  <a:cs typeface="Arial"/>
                  <a:sym typeface="Arial"/>
                </a:rPr>
                <a:t>Ứng</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dụng</a:t>
              </a:r>
              <a:r>
                <a:rPr lang="en-US" sz="3999" u="none" strike="noStrike" dirty="0">
                  <a:solidFill>
                    <a:srgbClr val="FFFFFF"/>
                  </a:solidFill>
                  <a:latin typeface="Arial"/>
                  <a:ea typeface="Arial"/>
                  <a:cs typeface="Arial"/>
                  <a:sym typeface="Arial"/>
                </a:rPr>
                <a:t> di </a:t>
              </a:r>
              <a:r>
                <a:rPr lang="en-US" sz="3999" u="none" strike="noStrike" dirty="0" err="1">
                  <a:solidFill>
                    <a:srgbClr val="FFFFFF"/>
                  </a:solidFill>
                  <a:latin typeface="Arial"/>
                  <a:ea typeface="Arial"/>
                  <a:cs typeface="Arial"/>
                  <a:sym typeface="Arial"/>
                </a:rPr>
                <a:t>động</a:t>
              </a:r>
              <a:r>
                <a:rPr lang="en-US" sz="3999" u="none" strike="noStrike" dirty="0">
                  <a:solidFill>
                    <a:srgbClr val="FFFFFF"/>
                  </a:solidFill>
                  <a:latin typeface="Arial"/>
                  <a:ea typeface="Arial"/>
                  <a:cs typeface="Arial"/>
                  <a:sym typeface="Arial"/>
                </a:rPr>
                <a:t> Flutter (Frontend) </a:t>
              </a:r>
              <a:r>
                <a:rPr lang="en-US" sz="3999" u="none" strike="noStrike" dirty="0" err="1">
                  <a:solidFill>
                    <a:srgbClr val="FFFFFF"/>
                  </a:solidFill>
                  <a:latin typeface="Arial"/>
                  <a:ea typeface="Arial"/>
                  <a:cs typeface="Arial"/>
                  <a:sym typeface="Arial"/>
                </a:rPr>
                <a:t>kết</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nối</a:t>
              </a:r>
              <a:r>
                <a:rPr lang="en-US" sz="3999" u="none" strike="noStrike" dirty="0">
                  <a:solidFill>
                    <a:srgbClr val="FFFFFF"/>
                  </a:solidFill>
                  <a:latin typeface="Arial"/>
                  <a:ea typeface="Arial"/>
                  <a:cs typeface="Arial"/>
                  <a:sym typeface="Arial"/>
                </a:rPr>
                <a:t> RESTful API </a:t>
              </a:r>
              <a:r>
                <a:rPr lang="en-US" sz="3999" u="none" strike="noStrike" dirty="0" err="1">
                  <a:solidFill>
                    <a:srgbClr val="FFFFFF"/>
                  </a:solidFill>
                  <a:latin typeface="Arial"/>
                  <a:ea typeface="Arial"/>
                  <a:cs typeface="Arial"/>
                  <a:sym typeface="Arial"/>
                </a:rPr>
                <a:t>và</a:t>
              </a:r>
              <a:r>
                <a:rPr lang="en-US" sz="3999" u="none" strike="noStrike" dirty="0">
                  <a:solidFill>
                    <a:srgbClr val="FFFFFF"/>
                  </a:solidFill>
                  <a:latin typeface="Arial"/>
                  <a:ea typeface="Arial"/>
                  <a:cs typeface="Arial"/>
                  <a:sym typeface="Arial"/>
                </a:rPr>
                <a:t> WebSocket </a:t>
              </a:r>
              <a:r>
                <a:rPr lang="en-US" sz="3999" u="none" strike="noStrike" dirty="0" err="1">
                  <a:solidFill>
                    <a:srgbClr val="FFFFFF"/>
                  </a:solidFill>
                  <a:latin typeface="Arial"/>
                  <a:ea typeface="Arial"/>
                  <a:cs typeface="Arial"/>
                  <a:sym typeface="Arial"/>
                </a:rPr>
                <a:t>tới</a:t>
              </a:r>
              <a:r>
                <a:rPr lang="en-US" sz="3999" u="none" strike="noStrike" dirty="0">
                  <a:solidFill>
                    <a:srgbClr val="FFFFFF"/>
                  </a:solidFill>
                  <a:latin typeface="Arial"/>
                  <a:ea typeface="Arial"/>
                  <a:cs typeface="Arial"/>
                  <a:sym typeface="Arial"/>
                </a:rPr>
                <a:t> Backend Spring Boot (</a:t>
              </a:r>
              <a:r>
                <a:rPr lang="en-US" sz="3999" u="none" strike="noStrike" dirty="0" err="1">
                  <a:solidFill>
                    <a:srgbClr val="FFFFFF"/>
                  </a:solidFill>
                  <a:latin typeface="Arial"/>
                  <a:ea typeface="Arial"/>
                  <a:cs typeface="Arial"/>
                  <a:sym typeface="Arial"/>
                </a:rPr>
                <a:t>gồm</a:t>
              </a:r>
              <a:r>
                <a:rPr lang="en-US" sz="3999" u="none" strike="noStrike" dirty="0">
                  <a:solidFill>
                    <a:srgbClr val="FFFFFF"/>
                  </a:solidFill>
                  <a:latin typeface="Arial"/>
                  <a:ea typeface="Arial"/>
                  <a:cs typeface="Arial"/>
                  <a:sym typeface="Arial"/>
                </a:rPr>
                <a:t> gym-server, user-server, ai-server).</a:t>
              </a:r>
            </a:p>
            <a:p>
              <a:pPr marL="863599" lvl="1" indent="-431800" algn="just">
                <a:lnSpc>
                  <a:spcPts val="5999"/>
                </a:lnSpc>
                <a:buFont typeface="Arial"/>
                <a:buChar char="•"/>
              </a:pPr>
              <a:r>
                <a:rPr lang="en-US" sz="3999" u="none" strike="noStrike" dirty="0" err="1">
                  <a:solidFill>
                    <a:srgbClr val="FFFFFF"/>
                  </a:solidFill>
                  <a:latin typeface="Arial"/>
                  <a:ea typeface="Arial"/>
                  <a:cs typeface="Arial"/>
                  <a:sym typeface="Arial"/>
                </a:rPr>
                <a:t>Giữa</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các</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dịch</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vụ</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nội</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bộ</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giao</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tiếp</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với</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nhau</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bằng</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OpenFeign</a:t>
              </a:r>
              <a:r>
                <a:rPr lang="en-US" sz="3999" u="none" strike="noStrike" dirty="0">
                  <a:solidFill>
                    <a:srgbClr val="FFFFFF"/>
                  </a:solidFill>
                  <a:latin typeface="Arial"/>
                  <a:ea typeface="Arial"/>
                  <a:cs typeface="Arial"/>
                  <a:sym typeface="Arial"/>
                </a:rPr>
                <a:t>.</a:t>
              </a:r>
            </a:p>
            <a:p>
              <a:pPr marL="863599" lvl="1" indent="-431800" algn="just">
                <a:lnSpc>
                  <a:spcPts val="5999"/>
                </a:lnSpc>
                <a:buFont typeface="Arial"/>
                <a:buChar char="•"/>
              </a:pPr>
              <a:r>
                <a:rPr lang="en-US" sz="3999" u="none" strike="noStrike" dirty="0" err="1">
                  <a:solidFill>
                    <a:srgbClr val="FFFFFF"/>
                  </a:solidFill>
                  <a:latin typeface="Arial"/>
                  <a:ea typeface="Arial"/>
                  <a:cs typeface="Arial"/>
                  <a:sym typeface="Arial"/>
                </a:rPr>
                <a:t>Mỗi</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dịch</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vụ</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sở</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hữu</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riêng</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một</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cơ</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sở</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dữ</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liệu</a:t>
              </a:r>
              <a:r>
                <a:rPr lang="en-US" sz="3999" u="none" strike="noStrike" dirty="0">
                  <a:solidFill>
                    <a:srgbClr val="FFFFFF"/>
                  </a:solidFill>
                  <a:latin typeface="Arial"/>
                  <a:ea typeface="Arial"/>
                  <a:cs typeface="Arial"/>
                  <a:sym typeface="Arial"/>
                </a:rPr>
                <a:t> PostgreSQL </a:t>
              </a:r>
              <a:r>
                <a:rPr lang="en-US" sz="3999" u="none" strike="noStrike" dirty="0" err="1">
                  <a:solidFill>
                    <a:srgbClr val="FFFFFF"/>
                  </a:solidFill>
                  <a:latin typeface="Arial"/>
                  <a:ea typeface="Arial"/>
                  <a:cs typeface="Arial"/>
                  <a:sym typeface="Arial"/>
                </a:rPr>
                <a:t>độc</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lập</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gymdb</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userdb</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aidb</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theo</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mô</a:t>
              </a:r>
              <a:r>
                <a:rPr lang="en-US" sz="3999" u="none" strike="noStrike" dirty="0">
                  <a:solidFill>
                    <a:srgbClr val="FFFFFF"/>
                  </a:solidFill>
                  <a:latin typeface="Arial"/>
                  <a:ea typeface="Arial"/>
                  <a:cs typeface="Arial"/>
                  <a:sym typeface="Arial"/>
                </a:rPr>
                <a:t> </a:t>
              </a:r>
              <a:r>
                <a:rPr lang="en-US" sz="3999" u="none" strike="noStrike" dirty="0" err="1">
                  <a:solidFill>
                    <a:srgbClr val="FFFFFF"/>
                  </a:solidFill>
                  <a:latin typeface="Arial"/>
                  <a:ea typeface="Arial"/>
                  <a:cs typeface="Arial"/>
                  <a:sym typeface="Arial"/>
                </a:rPr>
                <a:t>hình</a:t>
              </a:r>
              <a:r>
                <a:rPr lang="en-US" sz="3999" u="none" strike="noStrike" dirty="0">
                  <a:solidFill>
                    <a:srgbClr val="FFFFFF"/>
                  </a:solidFill>
                  <a:latin typeface="Arial"/>
                  <a:ea typeface="Arial"/>
                  <a:cs typeface="Arial"/>
                  <a:sym typeface="Arial"/>
                </a:rPr>
                <a:t> Database-per-service.</a:t>
              </a:r>
            </a:p>
          </p:txBody>
        </p:sp>
      </p:grpSp>
      <p:sp>
        <p:nvSpPr>
          <p:cNvPr id="7" name="Freeform 7"/>
          <p:cNvSpPr/>
          <p:nvPr/>
        </p:nvSpPr>
        <p:spPr>
          <a:xfrm>
            <a:off x="486728" y="206084"/>
            <a:ext cx="6681707" cy="9874832"/>
          </a:xfrm>
          <a:custGeom>
            <a:avLst/>
            <a:gdLst/>
            <a:ahLst/>
            <a:cxnLst/>
            <a:rect l="l" t="t" r="r" b="b"/>
            <a:pathLst>
              <a:path w="6681707" h="9874832">
                <a:moveTo>
                  <a:pt x="0" y="0"/>
                </a:moveTo>
                <a:lnTo>
                  <a:pt x="6681707" y="0"/>
                </a:lnTo>
                <a:lnTo>
                  <a:pt x="6681707" y="9874832"/>
                </a:lnTo>
                <a:lnTo>
                  <a:pt x="0" y="9874832"/>
                </a:lnTo>
                <a:lnTo>
                  <a:pt x="0" y="0"/>
                </a:lnTo>
                <a:close/>
              </a:path>
            </a:pathLst>
          </a:custGeom>
          <a:blipFill>
            <a:blip r:embed="rId3"/>
            <a:stretch>
              <a:fillRect r="-68"/>
            </a:stretch>
          </a:blipFill>
        </p:spPr>
      </p:sp>
      <p:sp>
        <p:nvSpPr>
          <p:cNvPr id="8" name="TextBox 8"/>
          <p:cNvSpPr txBox="1"/>
          <p:nvPr/>
        </p:nvSpPr>
        <p:spPr>
          <a:xfrm>
            <a:off x="3803658" y="402643"/>
            <a:ext cx="14865713" cy="695325"/>
          </a:xfrm>
          <a:prstGeom prst="rect">
            <a:avLst/>
          </a:prstGeom>
        </p:spPr>
        <p:txBody>
          <a:bodyPr lIns="0" tIns="0" rIns="0" bIns="0" rtlCol="0" anchor="t">
            <a:spAutoFit/>
          </a:bodyPr>
          <a:lstStyle/>
          <a:p>
            <a:pPr algn="ctr">
              <a:lnSpc>
                <a:spcPts val="5400"/>
              </a:lnSpc>
              <a:spcBef>
                <a:spcPct val="0"/>
              </a:spcBef>
            </a:pPr>
            <a:r>
              <a:rPr lang="en-US" sz="4500">
                <a:solidFill>
                  <a:srgbClr val="FF5757"/>
                </a:solidFill>
                <a:latin typeface="Sigmar One"/>
                <a:ea typeface="Sigmar One"/>
                <a:cs typeface="Sigmar One"/>
                <a:sym typeface="Sigmar One"/>
              </a:rPr>
              <a:t>III - PHÂN TÍCH VÀ THIẾT KẾ HỆ THỐNG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033">
                <a:alpha val="100000"/>
              </a:srgbClr>
            </a:gs>
            <a:gs pos="100000">
              <a:srgbClr val="143993">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13159"/>
            <a:ext cx="2779059" cy="2222253"/>
          </a:xfrm>
          <a:custGeom>
            <a:avLst/>
            <a:gdLst/>
            <a:ahLst/>
            <a:cxnLst/>
            <a:rect l="l" t="t" r="r" b="b"/>
            <a:pathLst>
              <a:path w="2779059" h="2222253">
                <a:moveTo>
                  <a:pt x="0" y="0"/>
                </a:moveTo>
                <a:lnTo>
                  <a:pt x="2779059" y="0"/>
                </a:lnTo>
                <a:lnTo>
                  <a:pt x="2779059" y="2222253"/>
                </a:lnTo>
                <a:lnTo>
                  <a:pt x="0" y="2222253"/>
                </a:lnTo>
                <a:lnTo>
                  <a:pt x="0" y="0"/>
                </a:lnTo>
                <a:close/>
              </a:path>
            </a:pathLst>
          </a:custGeom>
          <a:blipFill>
            <a:blip r:embed="rId2"/>
            <a:stretch>
              <a:fillRect/>
            </a:stretch>
          </a:blipFill>
        </p:spPr>
      </p:sp>
      <p:sp>
        <p:nvSpPr>
          <p:cNvPr id="3" name="Freeform 3"/>
          <p:cNvSpPr/>
          <p:nvPr/>
        </p:nvSpPr>
        <p:spPr>
          <a:xfrm>
            <a:off x="13894469" y="6580887"/>
            <a:ext cx="4016862" cy="3191579"/>
          </a:xfrm>
          <a:custGeom>
            <a:avLst/>
            <a:gdLst/>
            <a:ahLst/>
            <a:cxnLst/>
            <a:rect l="l" t="t" r="r" b="b"/>
            <a:pathLst>
              <a:path w="4016862" h="3191579">
                <a:moveTo>
                  <a:pt x="0" y="0"/>
                </a:moveTo>
                <a:lnTo>
                  <a:pt x="4016862" y="0"/>
                </a:lnTo>
                <a:lnTo>
                  <a:pt x="4016862" y="3191580"/>
                </a:lnTo>
                <a:lnTo>
                  <a:pt x="0" y="3191580"/>
                </a:lnTo>
                <a:lnTo>
                  <a:pt x="0" y="0"/>
                </a:lnTo>
                <a:close/>
              </a:path>
            </a:pathLst>
          </a:custGeom>
          <a:blipFill>
            <a:blip r:embed="rId3"/>
            <a:stretch>
              <a:fillRect/>
            </a:stretch>
          </a:blipFill>
        </p:spPr>
      </p:sp>
      <p:sp>
        <p:nvSpPr>
          <p:cNvPr id="4" name="Freeform 4"/>
          <p:cNvSpPr/>
          <p:nvPr/>
        </p:nvSpPr>
        <p:spPr>
          <a:xfrm>
            <a:off x="959520" y="6787211"/>
            <a:ext cx="3639078" cy="2778932"/>
          </a:xfrm>
          <a:custGeom>
            <a:avLst/>
            <a:gdLst/>
            <a:ahLst/>
            <a:cxnLst/>
            <a:rect l="l" t="t" r="r" b="b"/>
            <a:pathLst>
              <a:path w="3639078" h="2778932">
                <a:moveTo>
                  <a:pt x="0" y="0"/>
                </a:moveTo>
                <a:lnTo>
                  <a:pt x="3639078" y="0"/>
                </a:lnTo>
                <a:lnTo>
                  <a:pt x="3639078" y="2778932"/>
                </a:lnTo>
                <a:lnTo>
                  <a:pt x="0" y="277893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6301930" y="2209094"/>
            <a:ext cx="1173716" cy="1744713"/>
          </a:xfrm>
          <a:custGeom>
            <a:avLst/>
            <a:gdLst/>
            <a:ahLst/>
            <a:cxnLst/>
            <a:rect l="l" t="t" r="r" b="b"/>
            <a:pathLst>
              <a:path w="1173716" h="1744713">
                <a:moveTo>
                  <a:pt x="0" y="0"/>
                </a:moveTo>
                <a:lnTo>
                  <a:pt x="1173716" y="0"/>
                </a:lnTo>
                <a:lnTo>
                  <a:pt x="1173716" y="1744714"/>
                </a:lnTo>
                <a:lnTo>
                  <a:pt x="0" y="174471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7620060" y="6923787"/>
            <a:ext cx="3252946" cy="1868965"/>
          </a:xfrm>
          <a:custGeom>
            <a:avLst/>
            <a:gdLst/>
            <a:ahLst/>
            <a:cxnLst/>
            <a:rect l="l" t="t" r="r" b="b"/>
            <a:pathLst>
              <a:path w="3252946" h="1868965">
                <a:moveTo>
                  <a:pt x="0" y="0"/>
                </a:moveTo>
                <a:lnTo>
                  <a:pt x="3252947" y="0"/>
                </a:lnTo>
                <a:lnTo>
                  <a:pt x="3252947" y="1868966"/>
                </a:lnTo>
                <a:lnTo>
                  <a:pt x="0" y="186896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1028700" y="2238276"/>
            <a:ext cx="1844392" cy="2026804"/>
          </a:xfrm>
          <a:custGeom>
            <a:avLst/>
            <a:gdLst/>
            <a:ahLst/>
            <a:cxnLst/>
            <a:rect l="l" t="t" r="r" b="b"/>
            <a:pathLst>
              <a:path w="1844392" h="2026804">
                <a:moveTo>
                  <a:pt x="0" y="0"/>
                </a:moveTo>
                <a:lnTo>
                  <a:pt x="1844392" y="0"/>
                </a:lnTo>
                <a:lnTo>
                  <a:pt x="1844392" y="2026804"/>
                </a:lnTo>
                <a:lnTo>
                  <a:pt x="0" y="2026804"/>
                </a:lnTo>
                <a:lnTo>
                  <a:pt x="0" y="0"/>
                </a:lnTo>
                <a:close/>
              </a:path>
            </a:pathLst>
          </a:custGeom>
          <a:blipFill>
            <a:blip r:embed="rId7"/>
            <a:stretch>
              <a:fillRect/>
            </a:stretch>
          </a:blipFill>
        </p:spPr>
      </p:sp>
      <p:sp>
        <p:nvSpPr>
          <p:cNvPr id="8" name="TextBox 8"/>
          <p:cNvSpPr txBox="1"/>
          <p:nvPr/>
        </p:nvSpPr>
        <p:spPr>
          <a:xfrm>
            <a:off x="158697" y="3509957"/>
            <a:ext cx="17970605" cy="2429933"/>
          </a:xfrm>
          <a:prstGeom prst="rect">
            <a:avLst/>
          </a:prstGeom>
        </p:spPr>
        <p:txBody>
          <a:bodyPr lIns="0" tIns="0" rIns="0" bIns="0" rtlCol="0" anchor="t">
            <a:spAutoFit/>
          </a:bodyPr>
          <a:lstStyle/>
          <a:p>
            <a:pPr algn="ctr">
              <a:lnSpc>
                <a:spcPts val="9708"/>
              </a:lnSpc>
            </a:pPr>
            <a:r>
              <a:rPr lang="en-US" sz="6472" b="1" dirty="0">
                <a:solidFill>
                  <a:srgbClr val="FFEB99"/>
                </a:solidFill>
                <a:latin typeface="Arial Bold"/>
                <a:ea typeface="Arial Bold"/>
                <a:cs typeface="Arial Bold"/>
                <a:sym typeface="Arial Bold"/>
              </a:rPr>
              <a:t>CHỨC NĂNG</a:t>
            </a:r>
            <a:r>
              <a:rPr lang="en-US" sz="6472" b="1" dirty="0">
                <a:solidFill>
                  <a:srgbClr val="FFFFFF"/>
                </a:solidFill>
                <a:latin typeface="Arial Bold"/>
                <a:ea typeface="Arial Bold"/>
                <a:cs typeface="Arial Bold"/>
                <a:sym typeface="Arial Bold"/>
              </a:rPr>
              <a:t> </a:t>
            </a:r>
            <a:r>
              <a:rPr lang="en-US" sz="6472" b="1" dirty="0">
                <a:solidFill>
                  <a:srgbClr val="FFEB99"/>
                </a:solidFill>
                <a:latin typeface="Arial Bold"/>
                <a:ea typeface="Arial Bold"/>
                <a:cs typeface="Arial Bold"/>
                <a:sym typeface="Arial Bold"/>
              </a:rPr>
              <a:t>QUAN TRỌNG</a:t>
            </a:r>
            <a:r>
              <a:rPr lang="en-US" sz="6472" b="1" dirty="0">
                <a:solidFill>
                  <a:srgbClr val="FFFFFF"/>
                </a:solidFill>
                <a:latin typeface="Arial Bold"/>
                <a:ea typeface="Arial Bold"/>
                <a:cs typeface="Arial Bold"/>
                <a:sym typeface="Arial Bold"/>
              </a:rPr>
              <a:t> </a:t>
            </a:r>
          </a:p>
          <a:p>
            <a:pPr algn="ctr">
              <a:lnSpc>
                <a:spcPts val="9708"/>
              </a:lnSpc>
            </a:pPr>
            <a:r>
              <a:rPr lang="en-US" sz="6472" b="1" dirty="0">
                <a:solidFill>
                  <a:srgbClr val="FFFFFF"/>
                </a:solidFill>
                <a:latin typeface="Arial Bold"/>
                <a:ea typeface="Arial Bold"/>
                <a:cs typeface="Arial Bold"/>
                <a:sym typeface="Arial Bold"/>
              </a:rPr>
              <a:t>AI </a:t>
            </a:r>
            <a:r>
              <a:rPr lang="en-US" sz="6472" b="1" dirty="0" err="1">
                <a:solidFill>
                  <a:srgbClr val="FFFFFF"/>
                </a:solidFill>
                <a:latin typeface="Arial Bold"/>
                <a:ea typeface="Arial Bold"/>
                <a:cs typeface="Arial Bold"/>
                <a:sym typeface="Arial Bold"/>
              </a:rPr>
              <a:t>tư</a:t>
            </a:r>
            <a:r>
              <a:rPr lang="en-US" sz="6472" b="1" dirty="0">
                <a:solidFill>
                  <a:srgbClr val="FFFFFF"/>
                </a:solidFill>
                <a:latin typeface="Arial Bold"/>
                <a:ea typeface="Arial Bold"/>
                <a:cs typeface="Arial Bold"/>
                <a:sym typeface="Arial Bold"/>
              </a:rPr>
              <a:t> </a:t>
            </a:r>
            <a:r>
              <a:rPr lang="en-US" sz="6472" b="1" dirty="0" err="1">
                <a:solidFill>
                  <a:srgbClr val="FFFFFF"/>
                </a:solidFill>
                <a:latin typeface="Arial Bold"/>
                <a:ea typeface="Arial Bold"/>
                <a:cs typeface="Arial Bold"/>
                <a:sym typeface="Arial Bold"/>
              </a:rPr>
              <a:t>vấn</a:t>
            </a:r>
            <a:r>
              <a:rPr lang="en-US" sz="6472" b="1" dirty="0">
                <a:solidFill>
                  <a:srgbClr val="FFFFFF"/>
                </a:solidFill>
                <a:latin typeface="Arial Bold"/>
                <a:ea typeface="Arial Bold"/>
                <a:cs typeface="Arial Bold"/>
                <a:sym typeface="Arial Bold"/>
              </a:rPr>
              <a:t> </a:t>
            </a:r>
            <a:r>
              <a:rPr lang="en-US" sz="6472" b="1" dirty="0" err="1">
                <a:solidFill>
                  <a:srgbClr val="FFFFFF"/>
                </a:solidFill>
                <a:latin typeface="Arial Bold"/>
                <a:ea typeface="Arial Bold"/>
                <a:cs typeface="Arial Bold"/>
                <a:sym typeface="Arial Bold"/>
              </a:rPr>
              <a:t>về</a:t>
            </a:r>
            <a:r>
              <a:rPr lang="en-US" sz="6472" b="1" dirty="0">
                <a:solidFill>
                  <a:srgbClr val="FFFFFF"/>
                </a:solidFill>
                <a:latin typeface="Arial Bold"/>
                <a:ea typeface="Arial Bold"/>
                <a:cs typeface="Arial Bold"/>
                <a:sym typeface="Arial Bold"/>
              </a:rPr>
              <a:t> </a:t>
            </a:r>
            <a:r>
              <a:rPr lang="en-US" sz="6472" b="1" dirty="0" err="1">
                <a:solidFill>
                  <a:srgbClr val="FFFFFF"/>
                </a:solidFill>
                <a:latin typeface="Arial Bold"/>
                <a:ea typeface="Arial Bold"/>
                <a:cs typeface="Arial Bold"/>
                <a:sym typeface="Arial Bold"/>
              </a:rPr>
              <a:t>chế</a:t>
            </a:r>
            <a:r>
              <a:rPr lang="en-US" sz="6472" b="1" dirty="0">
                <a:solidFill>
                  <a:srgbClr val="FFFFFF"/>
                </a:solidFill>
                <a:latin typeface="Arial Bold"/>
                <a:ea typeface="Arial Bold"/>
                <a:cs typeface="Arial Bold"/>
                <a:sym typeface="Arial Bold"/>
              </a:rPr>
              <a:t> </a:t>
            </a:r>
            <a:r>
              <a:rPr lang="en-US" sz="6472" b="1" dirty="0" err="1">
                <a:solidFill>
                  <a:srgbClr val="FFFFFF"/>
                </a:solidFill>
                <a:latin typeface="Arial Bold"/>
                <a:ea typeface="Arial Bold"/>
                <a:cs typeface="Arial Bold"/>
                <a:sym typeface="Arial Bold"/>
              </a:rPr>
              <a:t>độ</a:t>
            </a:r>
            <a:r>
              <a:rPr lang="en-US" sz="6472" b="1" dirty="0">
                <a:solidFill>
                  <a:srgbClr val="FFFFFF"/>
                </a:solidFill>
                <a:latin typeface="Arial Bold"/>
                <a:ea typeface="Arial Bold"/>
                <a:cs typeface="Arial Bold"/>
                <a:sym typeface="Arial Bold"/>
              </a:rPr>
              <a:t> </a:t>
            </a:r>
            <a:r>
              <a:rPr lang="en-US" sz="6472" b="1" dirty="0" err="1">
                <a:solidFill>
                  <a:srgbClr val="FFFFFF"/>
                </a:solidFill>
                <a:latin typeface="Arial Bold"/>
                <a:ea typeface="Arial Bold"/>
                <a:cs typeface="Arial Bold"/>
                <a:sym typeface="Arial Bold"/>
              </a:rPr>
              <a:t>tập</a:t>
            </a:r>
            <a:r>
              <a:rPr lang="en-US" sz="6472" b="1" dirty="0">
                <a:solidFill>
                  <a:srgbClr val="FFFFFF"/>
                </a:solidFill>
                <a:latin typeface="Arial Bold"/>
                <a:ea typeface="Arial Bold"/>
                <a:cs typeface="Arial Bold"/>
                <a:sym typeface="Arial Bold"/>
              </a:rPr>
              <a:t> </a:t>
            </a:r>
            <a:r>
              <a:rPr lang="en-US" sz="6472" b="1" dirty="0" err="1">
                <a:solidFill>
                  <a:srgbClr val="FFFFFF"/>
                </a:solidFill>
                <a:latin typeface="Arial Bold"/>
                <a:ea typeface="Arial Bold"/>
                <a:cs typeface="Arial Bold"/>
                <a:sym typeface="Arial Bold"/>
              </a:rPr>
              <a:t>luyện</a:t>
            </a:r>
            <a:r>
              <a:rPr lang="en-US" sz="6472" b="1" dirty="0">
                <a:solidFill>
                  <a:srgbClr val="FFFFFF"/>
                </a:solidFill>
                <a:latin typeface="Arial Bold"/>
                <a:ea typeface="Arial Bold"/>
                <a:cs typeface="Arial Bold"/>
                <a:sym typeface="Arial Bold"/>
              </a:rPr>
              <a:t> </a:t>
            </a:r>
            <a:r>
              <a:rPr lang="en-US" sz="6472" b="1" dirty="0" err="1">
                <a:solidFill>
                  <a:srgbClr val="FFFFFF"/>
                </a:solidFill>
                <a:latin typeface="Arial Bold"/>
                <a:ea typeface="Arial Bold"/>
                <a:cs typeface="Arial Bold"/>
                <a:sym typeface="Arial Bold"/>
              </a:rPr>
              <a:t>và</a:t>
            </a:r>
            <a:r>
              <a:rPr lang="en-US" sz="6472" b="1" dirty="0">
                <a:solidFill>
                  <a:srgbClr val="FFFFFF"/>
                </a:solidFill>
                <a:latin typeface="Arial Bold"/>
                <a:ea typeface="Arial Bold"/>
                <a:cs typeface="Arial Bold"/>
                <a:sym typeface="Arial Bold"/>
              </a:rPr>
              <a:t> </a:t>
            </a:r>
            <a:r>
              <a:rPr lang="en-US" sz="6472" b="1" dirty="0" err="1">
                <a:solidFill>
                  <a:srgbClr val="FFFFFF"/>
                </a:solidFill>
                <a:latin typeface="Arial Bold"/>
                <a:ea typeface="Arial Bold"/>
                <a:cs typeface="Arial Bold"/>
                <a:sym typeface="Arial Bold"/>
              </a:rPr>
              <a:t>dinh</a:t>
            </a:r>
            <a:r>
              <a:rPr lang="en-US" sz="6472" b="1" dirty="0">
                <a:solidFill>
                  <a:srgbClr val="FFFFFF"/>
                </a:solidFill>
                <a:latin typeface="Arial Bold"/>
                <a:ea typeface="Arial Bold"/>
                <a:cs typeface="Arial Bold"/>
                <a:sym typeface="Arial Bold"/>
              </a:rPr>
              <a:t> </a:t>
            </a:r>
            <a:r>
              <a:rPr lang="en-US" sz="6472" b="1" dirty="0" err="1">
                <a:solidFill>
                  <a:srgbClr val="FFFFFF"/>
                </a:solidFill>
                <a:latin typeface="Arial Bold"/>
                <a:ea typeface="Arial Bold"/>
                <a:cs typeface="Arial Bold"/>
                <a:sym typeface="Arial Bold"/>
              </a:rPr>
              <a:t>dưỡng</a:t>
            </a:r>
            <a:endParaRPr lang="en-US" sz="6472" b="1" dirty="0">
              <a:solidFill>
                <a:srgbClr val="FFFFFF"/>
              </a:solidFill>
              <a:latin typeface="Arial Bold"/>
              <a:ea typeface="Arial Bold"/>
              <a:cs typeface="Arial Bold"/>
              <a:sym typeface="Arial Bold"/>
            </a:endParaRPr>
          </a:p>
        </p:txBody>
      </p:sp>
      <p:sp>
        <p:nvSpPr>
          <p:cNvPr id="9" name="TextBox 9"/>
          <p:cNvSpPr txBox="1"/>
          <p:nvPr/>
        </p:nvSpPr>
        <p:spPr>
          <a:xfrm>
            <a:off x="1028700" y="6228462"/>
            <a:ext cx="16661622" cy="695325"/>
          </a:xfrm>
          <a:prstGeom prst="rect">
            <a:avLst/>
          </a:prstGeom>
        </p:spPr>
        <p:txBody>
          <a:bodyPr lIns="0" tIns="0" rIns="0" bIns="0" rtlCol="0" anchor="t">
            <a:spAutoFit/>
          </a:bodyPr>
          <a:lstStyle/>
          <a:p>
            <a:pPr algn="ctr">
              <a:lnSpc>
                <a:spcPts val="5400"/>
              </a:lnSpc>
              <a:spcBef>
                <a:spcPct val="0"/>
              </a:spcBef>
            </a:pPr>
            <a:endParaRPr/>
          </a:p>
        </p:txBody>
      </p:sp>
      <p:sp>
        <p:nvSpPr>
          <p:cNvPr id="10" name="TextBox 10"/>
          <p:cNvSpPr txBox="1"/>
          <p:nvPr/>
        </p:nvSpPr>
        <p:spPr>
          <a:xfrm>
            <a:off x="2873092" y="875594"/>
            <a:ext cx="14865713" cy="695325"/>
          </a:xfrm>
          <a:prstGeom prst="rect">
            <a:avLst/>
          </a:prstGeom>
        </p:spPr>
        <p:txBody>
          <a:bodyPr lIns="0" tIns="0" rIns="0" bIns="0" rtlCol="0" anchor="t">
            <a:spAutoFit/>
          </a:bodyPr>
          <a:lstStyle/>
          <a:p>
            <a:pPr algn="ctr">
              <a:lnSpc>
                <a:spcPts val="5400"/>
              </a:lnSpc>
              <a:spcBef>
                <a:spcPct val="0"/>
              </a:spcBef>
            </a:pPr>
            <a:r>
              <a:rPr lang="en-US" sz="4500">
                <a:solidFill>
                  <a:srgbClr val="FF5757"/>
                </a:solidFill>
                <a:latin typeface="Sigmar One"/>
                <a:ea typeface="Sigmar One"/>
                <a:cs typeface="Sigmar One"/>
                <a:sym typeface="Sigmar One"/>
              </a:rPr>
              <a:t>III - PHÂN TÍCH VÀ THIẾT KẾ HỆ THỐNG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033">
                <a:alpha val="100000"/>
              </a:srgbClr>
            </a:gs>
            <a:gs pos="100000">
              <a:srgbClr val="143993">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30815" y="1028700"/>
            <a:ext cx="18026370" cy="8107674"/>
          </a:xfrm>
          <a:custGeom>
            <a:avLst/>
            <a:gdLst/>
            <a:ahLst/>
            <a:cxnLst/>
            <a:rect l="l" t="t" r="r" b="b"/>
            <a:pathLst>
              <a:path w="18026370" h="8107674">
                <a:moveTo>
                  <a:pt x="0" y="0"/>
                </a:moveTo>
                <a:lnTo>
                  <a:pt x="18026370" y="0"/>
                </a:lnTo>
                <a:lnTo>
                  <a:pt x="18026370" y="8107674"/>
                </a:lnTo>
                <a:lnTo>
                  <a:pt x="0" y="8107674"/>
                </a:lnTo>
                <a:lnTo>
                  <a:pt x="0" y="0"/>
                </a:lnTo>
                <a:close/>
              </a:path>
            </a:pathLst>
          </a:custGeom>
          <a:blipFill>
            <a:blip r:embed="rId2"/>
            <a:stretch>
              <a:fillRect b="-1163"/>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033">
                <a:alpha val="100000"/>
              </a:srgbClr>
            </a:gs>
            <a:gs pos="100000">
              <a:srgbClr val="143993">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13159"/>
            <a:ext cx="2779059" cy="2222253"/>
          </a:xfrm>
          <a:custGeom>
            <a:avLst/>
            <a:gdLst/>
            <a:ahLst/>
            <a:cxnLst/>
            <a:rect l="l" t="t" r="r" b="b"/>
            <a:pathLst>
              <a:path w="2779059" h="2222253">
                <a:moveTo>
                  <a:pt x="0" y="0"/>
                </a:moveTo>
                <a:lnTo>
                  <a:pt x="2779059" y="0"/>
                </a:lnTo>
                <a:lnTo>
                  <a:pt x="2779059" y="2222253"/>
                </a:lnTo>
                <a:lnTo>
                  <a:pt x="0" y="2222253"/>
                </a:lnTo>
                <a:lnTo>
                  <a:pt x="0" y="0"/>
                </a:lnTo>
                <a:close/>
              </a:path>
            </a:pathLst>
          </a:custGeom>
          <a:blipFill>
            <a:blip r:embed="rId2"/>
            <a:stretch>
              <a:fillRect/>
            </a:stretch>
          </a:blipFill>
        </p:spPr>
      </p:sp>
      <p:sp>
        <p:nvSpPr>
          <p:cNvPr id="3" name="TextBox 3"/>
          <p:cNvSpPr txBox="1"/>
          <p:nvPr/>
        </p:nvSpPr>
        <p:spPr>
          <a:xfrm>
            <a:off x="2873092" y="533779"/>
            <a:ext cx="14865713" cy="695325"/>
          </a:xfrm>
          <a:prstGeom prst="rect">
            <a:avLst/>
          </a:prstGeom>
        </p:spPr>
        <p:txBody>
          <a:bodyPr lIns="0" tIns="0" rIns="0" bIns="0" rtlCol="0" anchor="t">
            <a:spAutoFit/>
          </a:bodyPr>
          <a:lstStyle/>
          <a:p>
            <a:pPr algn="ctr">
              <a:lnSpc>
                <a:spcPts val="5400"/>
              </a:lnSpc>
              <a:spcBef>
                <a:spcPct val="0"/>
              </a:spcBef>
            </a:pPr>
            <a:r>
              <a:rPr lang="en-US" sz="4500">
                <a:solidFill>
                  <a:srgbClr val="FF5757"/>
                </a:solidFill>
                <a:latin typeface="Sigmar One"/>
                <a:ea typeface="Sigmar One"/>
                <a:cs typeface="Sigmar One"/>
                <a:sym typeface="Sigmar One"/>
              </a:rPr>
              <a:t>III - PHÂN TÍCH VÀ THIẾT KẾ HỆ THỐNG</a:t>
            </a:r>
          </a:p>
        </p:txBody>
      </p:sp>
      <p:sp>
        <p:nvSpPr>
          <p:cNvPr id="4" name="TextBox 4"/>
          <p:cNvSpPr txBox="1"/>
          <p:nvPr/>
        </p:nvSpPr>
        <p:spPr>
          <a:xfrm>
            <a:off x="6179697" y="4795837"/>
            <a:ext cx="5928605" cy="695325"/>
          </a:xfrm>
          <a:prstGeom prst="rect">
            <a:avLst/>
          </a:prstGeom>
        </p:spPr>
        <p:txBody>
          <a:bodyPr lIns="0" tIns="0" rIns="0" bIns="0" rtlCol="0" anchor="t">
            <a:spAutoFit/>
          </a:bodyPr>
          <a:lstStyle/>
          <a:p>
            <a:pPr algn="ctr">
              <a:lnSpc>
                <a:spcPts val="5400"/>
              </a:lnSpc>
              <a:spcBef>
                <a:spcPct val="0"/>
              </a:spcBef>
            </a:pPr>
            <a:r>
              <a:rPr lang="en-US" sz="4500" dirty="0">
                <a:solidFill>
                  <a:srgbClr val="FFFFFF"/>
                </a:solidFill>
                <a:latin typeface="Sigmar One"/>
                <a:ea typeface="Sigmar One"/>
                <a:cs typeface="Sigmar One"/>
                <a:sym typeface="Sigmar One"/>
              </a:rPr>
              <a:t>DEMO </a:t>
            </a:r>
            <a:r>
              <a:rPr lang="en-US" sz="4500" dirty="0" err="1">
                <a:solidFill>
                  <a:srgbClr val="FFFFFF"/>
                </a:solidFill>
                <a:latin typeface="Sigmar One"/>
                <a:ea typeface="Sigmar One"/>
                <a:cs typeface="Sigmar One"/>
                <a:sym typeface="Sigmar One"/>
              </a:rPr>
              <a:t>chức</a:t>
            </a:r>
            <a:r>
              <a:rPr lang="en-US" sz="4500" dirty="0">
                <a:solidFill>
                  <a:srgbClr val="FFFFFF"/>
                </a:solidFill>
                <a:latin typeface="Sigmar One"/>
                <a:ea typeface="Sigmar One"/>
                <a:cs typeface="Sigmar One"/>
                <a:sym typeface="Sigmar One"/>
              </a:rPr>
              <a:t> </a:t>
            </a:r>
            <a:r>
              <a:rPr lang="en-US" sz="4500" dirty="0" err="1">
                <a:solidFill>
                  <a:srgbClr val="FFFFFF"/>
                </a:solidFill>
                <a:latin typeface="Sigmar One"/>
                <a:ea typeface="Sigmar One"/>
                <a:cs typeface="Sigmar One"/>
                <a:sym typeface="Sigmar One"/>
              </a:rPr>
              <a:t>năng</a:t>
            </a:r>
            <a:endParaRPr lang="en-US" sz="4500" dirty="0">
              <a:solidFill>
                <a:srgbClr val="FFFFFF"/>
              </a:solidFill>
              <a:latin typeface="Sigmar One"/>
              <a:ea typeface="Sigmar One"/>
              <a:cs typeface="Sigmar One"/>
              <a:sym typeface="Sigmar On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033">
                <a:alpha val="100000"/>
              </a:srgbClr>
            </a:gs>
            <a:gs pos="100000">
              <a:srgbClr val="143993">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13159"/>
            <a:ext cx="2779059" cy="2222253"/>
          </a:xfrm>
          <a:custGeom>
            <a:avLst/>
            <a:gdLst/>
            <a:ahLst/>
            <a:cxnLst/>
            <a:rect l="l" t="t" r="r" b="b"/>
            <a:pathLst>
              <a:path w="2779059" h="2222253">
                <a:moveTo>
                  <a:pt x="0" y="0"/>
                </a:moveTo>
                <a:lnTo>
                  <a:pt x="2779059" y="0"/>
                </a:lnTo>
                <a:lnTo>
                  <a:pt x="2779059" y="2222253"/>
                </a:lnTo>
                <a:lnTo>
                  <a:pt x="0" y="2222253"/>
                </a:lnTo>
                <a:lnTo>
                  <a:pt x="0" y="0"/>
                </a:lnTo>
                <a:close/>
              </a:path>
            </a:pathLst>
          </a:custGeom>
          <a:blipFill>
            <a:blip r:embed="rId2"/>
            <a:stretch>
              <a:fillRect/>
            </a:stretch>
          </a:blipFill>
        </p:spPr>
      </p:sp>
      <p:sp>
        <p:nvSpPr>
          <p:cNvPr id="3" name="Freeform 3"/>
          <p:cNvSpPr/>
          <p:nvPr/>
        </p:nvSpPr>
        <p:spPr>
          <a:xfrm>
            <a:off x="3623958" y="1028700"/>
            <a:ext cx="11040085" cy="8707867"/>
          </a:xfrm>
          <a:custGeom>
            <a:avLst/>
            <a:gdLst/>
            <a:ahLst/>
            <a:cxnLst/>
            <a:rect l="l" t="t" r="r" b="b"/>
            <a:pathLst>
              <a:path w="11040085" h="8707867">
                <a:moveTo>
                  <a:pt x="0" y="0"/>
                </a:moveTo>
                <a:lnTo>
                  <a:pt x="11040084" y="0"/>
                </a:lnTo>
                <a:lnTo>
                  <a:pt x="11040084" y="8707867"/>
                </a:lnTo>
                <a:lnTo>
                  <a:pt x="0" y="8707867"/>
                </a:lnTo>
                <a:lnTo>
                  <a:pt x="0" y="0"/>
                </a:lnTo>
                <a:close/>
              </a:path>
            </a:pathLst>
          </a:custGeom>
          <a:blipFill>
            <a:blip r:embed="rId3"/>
            <a:stretch>
              <a:fillRect/>
            </a:stretch>
          </a:blipFill>
        </p:spPr>
      </p:sp>
      <p:sp>
        <p:nvSpPr>
          <p:cNvPr id="4" name="TextBox 4"/>
          <p:cNvSpPr txBox="1"/>
          <p:nvPr/>
        </p:nvSpPr>
        <p:spPr>
          <a:xfrm>
            <a:off x="2393587" y="244384"/>
            <a:ext cx="14865713" cy="695325"/>
          </a:xfrm>
          <a:prstGeom prst="rect">
            <a:avLst/>
          </a:prstGeom>
        </p:spPr>
        <p:txBody>
          <a:bodyPr lIns="0" tIns="0" rIns="0" bIns="0" rtlCol="0" anchor="t">
            <a:spAutoFit/>
          </a:bodyPr>
          <a:lstStyle/>
          <a:p>
            <a:pPr algn="ctr">
              <a:lnSpc>
                <a:spcPts val="5400"/>
              </a:lnSpc>
              <a:spcBef>
                <a:spcPct val="0"/>
              </a:spcBef>
            </a:pPr>
            <a:r>
              <a:rPr lang="en-US" sz="4500">
                <a:solidFill>
                  <a:srgbClr val="FFFFFF"/>
                </a:solidFill>
                <a:latin typeface="Sigmar One"/>
                <a:ea typeface="Sigmar One"/>
                <a:cs typeface="Sigmar One"/>
                <a:sym typeface="Sigmar One"/>
              </a:rPr>
              <a:t>IV - TRIỂN KHAI VÀ QUẢN LÝ HỆ THỐNG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033">
                <a:alpha val="100000"/>
              </a:srgbClr>
            </a:gs>
            <a:gs pos="100000">
              <a:srgbClr val="143993">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13159"/>
            <a:ext cx="2393587" cy="1914013"/>
          </a:xfrm>
          <a:custGeom>
            <a:avLst/>
            <a:gdLst/>
            <a:ahLst/>
            <a:cxnLst/>
            <a:rect l="l" t="t" r="r" b="b"/>
            <a:pathLst>
              <a:path w="2393587" h="1914013">
                <a:moveTo>
                  <a:pt x="0" y="0"/>
                </a:moveTo>
                <a:lnTo>
                  <a:pt x="2393587" y="0"/>
                </a:lnTo>
                <a:lnTo>
                  <a:pt x="2393587" y="1914013"/>
                </a:lnTo>
                <a:lnTo>
                  <a:pt x="0" y="1914013"/>
                </a:lnTo>
                <a:lnTo>
                  <a:pt x="0" y="0"/>
                </a:lnTo>
                <a:close/>
              </a:path>
            </a:pathLst>
          </a:custGeom>
          <a:blipFill>
            <a:blip r:embed="rId2"/>
            <a:stretch>
              <a:fillRect/>
            </a:stretch>
          </a:blipFill>
        </p:spPr>
      </p:sp>
      <p:sp>
        <p:nvSpPr>
          <p:cNvPr id="3" name="Freeform 3"/>
          <p:cNvSpPr/>
          <p:nvPr/>
        </p:nvSpPr>
        <p:spPr>
          <a:xfrm>
            <a:off x="1772263" y="1960203"/>
            <a:ext cx="15045358" cy="7635519"/>
          </a:xfrm>
          <a:custGeom>
            <a:avLst/>
            <a:gdLst/>
            <a:ahLst/>
            <a:cxnLst/>
            <a:rect l="l" t="t" r="r" b="b"/>
            <a:pathLst>
              <a:path w="15045358" h="7635519">
                <a:moveTo>
                  <a:pt x="0" y="0"/>
                </a:moveTo>
                <a:lnTo>
                  <a:pt x="15045358" y="0"/>
                </a:lnTo>
                <a:lnTo>
                  <a:pt x="15045358" y="7635519"/>
                </a:lnTo>
                <a:lnTo>
                  <a:pt x="0" y="7635519"/>
                </a:lnTo>
                <a:lnTo>
                  <a:pt x="0" y="0"/>
                </a:lnTo>
                <a:close/>
              </a:path>
            </a:pathLst>
          </a:custGeom>
          <a:blipFill>
            <a:blip r:embed="rId3"/>
            <a:stretch>
              <a:fillRect/>
            </a:stretch>
          </a:blipFill>
        </p:spPr>
      </p:sp>
      <p:sp>
        <p:nvSpPr>
          <p:cNvPr id="4" name="TextBox 4"/>
          <p:cNvSpPr txBox="1"/>
          <p:nvPr/>
        </p:nvSpPr>
        <p:spPr>
          <a:xfrm>
            <a:off x="2393587" y="591423"/>
            <a:ext cx="14865713" cy="695325"/>
          </a:xfrm>
          <a:prstGeom prst="rect">
            <a:avLst/>
          </a:prstGeom>
        </p:spPr>
        <p:txBody>
          <a:bodyPr lIns="0" tIns="0" rIns="0" bIns="0" rtlCol="0" anchor="t">
            <a:spAutoFit/>
          </a:bodyPr>
          <a:lstStyle/>
          <a:p>
            <a:pPr algn="ctr">
              <a:lnSpc>
                <a:spcPts val="5400"/>
              </a:lnSpc>
              <a:spcBef>
                <a:spcPct val="0"/>
              </a:spcBef>
            </a:pPr>
            <a:r>
              <a:rPr lang="en-US" sz="4500">
                <a:solidFill>
                  <a:srgbClr val="FF5757"/>
                </a:solidFill>
                <a:latin typeface="Sigmar One"/>
                <a:ea typeface="Sigmar One"/>
                <a:cs typeface="Sigmar One"/>
                <a:sym typeface="Sigmar One"/>
              </a:rPr>
              <a:t>IV - TRIỂN KHAI VÀ QUẢN LÝ HỆ THỐNG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033">
                <a:alpha val="100000"/>
              </a:srgbClr>
            </a:gs>
            <a:gs pos="100000">
              <a:srgbClr val="143993">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789616" y="-882063"/>
            <a:ext cx="22486195" cy="6296135"/>
          </a:xfrm>
          <a:custGeom>
            <a:avLst/>
            <a:gdLst/>
            <a:ahLst/>
            <a:cxnLst/>
            <a:rect l="l" t="t" r="r" b="b"/>
            <a:pathLst>
              <a:path w="22486195" h="6296135">
                <a:moveTo>
                  <a:pt x="0" y="0"/>
                </a:moveTo>
                <a:lnTo>
                  <a:pt x="22486196" y="0"/>
                </a:lnTo>
                <a:lnTo>
                  <a:pt x="22486196" y="6296135"/>
                </a:lnTo>
                <a:lnTo>
                  <a:pt x="0" y="6296135"/>
                </a:lnTo>
                <a:lnTo>
                  <a:pt x="0" y="0"/>
                </a:lnTo>
                <a:close/>
              </a:path>
            </a:pathLst>
          </a:custGeom>
          <a:blipFill>
            <a:blip>
              <a:alphaModFix amt="13000"/>
              <a:extLst>
                <a:ext uri="{96DAC541-7B7A-43D3-8B79-37D633B846F1}">
                  <asvg:svgBlip xmlns:asvg="http://schemas.microsoft.com/office/drawing/2016/SVG/main" r:embed="rId2"/>
                </a:ext>
              </a:extLst>
            </a:blip>
            <a:stretch>
              <a:fillRect/>
            </a:stretch>
          </a:blipFill>
        </p:spPr>
      </p:sp>
      <p:sp>
        <p:nvSpPr>
          <p:cNvPr id="3" name="Freeform 3"/>
          <p:cNvSpPr/>
          <p:nvPr/>
        </p:nvSpPr>
        <p:spPr>
          <a:xfrm>
            <a:off x="0" y="-13159"/>
            <a:ext cx="2779059" cy="2222253"/>
          </a:xfrm>
          <a:custGeom>
            <a:avLst/>
            <a:gdLst/>
            <a:ahLst/>
            <a:cxnLst/>
            <a:rect l="l" t="t" r="r" b="b"/>
            <a:pathLst>
              <a:path w="2779059" h="2222253">
                <a:moveTo>
                  <a:pt x="0" y="0"/>
                </a:moveTo>
                <a:lnTo>
                  <a:pt x="2779059" y="0"/>
                </a:lnTo>
                <a:lnTo>
                  <a:pt x="2779059" y="2222253"/>
                </a:lnTo>
                <a:lnTo>
                  <a:pt x="0" y="2222253"/>
                </a:lnTo>
                <a:lnTo>
                  <a:pt x="0" y="0"/>
                </a:lnTo>
                <a:close/>
              </a:path>
            </a:pathLst>
          </a:custGeom>
          <a:blipFill>
            <a:blip r:embed="rId3"/>
            <a:stretch>
              <a:fillRect/>
            </a:stretch>
          </a:blipFill>
        </p:spPr>
      </p:sp>
      <p:sp>
        <p:nvSpPr>
          <p:cNvPr id="4" name="TextBox 4"/>
          <p:cNvSpPr txBox="1"/>
          <p:nvPr/>
        </p:nvSpPr>
        <p:spPr>
          <a:xfrm>
            <a:off x="2393587" y="597271"/>
            <a:ext cx="14865713" cy="695325"/>
          </a:xfrm>
          <a:prstGeom prst="rect">
            <a:avLst/>
          </a:prstGeom>
        </p:spPr>
        <p:txBody>
          <a:bodyPr lIns="0" tIns="0" rIns="0" bIns="0" rtlCol="0" anchor="t">
            <a:spAutoFit/>
          </a:bodyPr>
          <a:lstStyle/>
          <a:p>
            <a:pPr algn="ctr">
              <a:lnSpc>
                <a:spcPts val="5400"/>
              </a:lnSpc>
              <a:spcBef>
                <a:spcPct val="0"/>
              </a:spcBef>
            </a:pPr>
            <a:r>
              <a:rPr lang="en-US" sz="4500">
                <a:solidFill>
                  <a:srgbClr val="FF5757"/>
                </a:solidFill>
                <a:latin typeface="Sigmar One"/>
                <a:ea typeface="Sigmar One"/>
                <a:cs typeface="Sigmar One"/>
                <a:sym typeface="Sigmar One"/>
              </a:rPr>
              <a:t>V - KẾT LUẬN VÀ HƯỚNG PHÁT TRIỂN</a:t>
            </a:r>
          </a:p>
        </p:txBody>
      </p:sp>
      <p:sp>
        <p:nvSpPr>
          <p:cNvPr id="5" name="TextBox 5"/>
          <p:cNvSpPr txBox="1"/>
          <p:nvPr/>
        </p:nvSpPr>
        <p:spPr>
          <a:xfrm>
            <a:off x="2393587" y="1570679"/>
            <a:ext cx="6996829" cy="695325"/>
          </a:xfrm>
          <a:prstGeom prst="rect">
            <a:avLst/>
          </a:prstGeom>
        </p:spPr>
        <p:txBody>
          <a:bodyPr lIns="0" tIns="0" rIns="0" bIns="0" rtlCol="0" anchor="t">
            <a:spAutoFit/>
          </a:bodyPr>
          <a:lstStyle/>
          <a:p>
            <a:pPr algn="ctr">
              <a:lnSpc>
                <a:spcPts val="5400"/>
              </a:lnSpc>
              <a:spcBef>
                <a:spcPct val="0"/>
              </a:spcBef>
            </a:pPr>
            <a:r>
              <a:rPr lang="en-US" sz="4500">
                <a:solidFill>
                  <a:srgbClr val="FFEB99"/>
                </a:solidFill>
                <a:latin typeface="Sigmar One"/>
                <a:ea typeface="Sigmar One"/>
                <a:cs typeface="Sigmar One"/>
                <a:sym typeface="Sigmar One"/>
              </a:rPr>
              <a:t>1.kết quả đạt được</a:t>
            </a:r>
          </a:p>
        </p:txBody>
      </p:sp>
      <p:sp>
        <p:nvSpPr>
          <p:cNvPr id="6" name="TextBox 6"/>
          <p:cNvSpPr txBox="1"/>
          <p:nvPr/>
        </p:nvSpPr>
        <p:spPr>
          <a:xfrm>
            <a:off x="1305668" y="2667160"/>
            <a:ext cx="15953632" cy="1504950"/>
          </a:xfrm>
          <a:prstGeom prst="rect">
            <a:avLst/>
          </a:prstGeom>
        </p:spPr>
        <p:txBody>
          <a:bodyPr lIns="0" tIns="0" rIns="0" bIns="0" rtlCol="0" anchor="t">
            <a:spAutoFit/>
          </a:bodyPr>
          <a:lstStyle/>
          <a:p>
            <a:pPr algn="just">
              <a:lnSpc>
                <a:spcPts val="6000"/>
              </a:lnSpc>
            </a:pPr>
            <a:r>
              <a:rPr lang="en-US" sz="4000" b="1" dirty="0" err="1">
                <a:solidFill>
                  <a:srgbClr val="FFFFFF"/>
                </a:solidFill>
                <a:latin typeface="Arial"/>
                <a:ea typeface="Arial"/>
                <a:cs typeface="Arial"/>
                <a:sym typeface="Arial"/>
              </a:rPr>
              <a:t>Xây</a:t>
            </a:r>
            <a:r>
              <a:rPr lang="en-US" sz="4000" b="1" dirty="0">
                <a:solidFill>
                  <a:srgbClr val="FFFFFF"/>
                </a:solidFill>
                <a:latin typeface="Arial"/>
                <a:ea typeface="Arial"/>
                <a:cs typeface="Arial"/>
                <a:sym typeface="Arial"/>
              </a:rPr>
              <a:t> </a:t>
            </a:r>
            <a:r>
              <a:rPr lang="en-US" sz="4000" b="1" dirty="0" err="1">
                <a:solidFill>
                  <a:srgbClr val="FFFFFF"/>
                </a:solidFill>
                <a:latin typeface="Arial"/>
                <a:ea typeface="Arial"/>
                <a:cs typeface="Arial"/>
                <a:sym typeface="Arial"/>
              </a:rPr>
              <a:t>dựng</a:t>
            </a:r>
            <a:r>
              <a:rPr lang="en-US" sz="4000" b="1" dirty="0">
                <a:solidFill>
                  <a:srgbClr val="FFFFFF"/>
                </a:solidFill>
                <a:latin typeface="Arial"/>
                <a:ea typeface="Arial"/>
                <a:cs typeface="Arial"/>
                <a:sym typeface="Arial"/>
              </a:rPr>
              <a:t> </a:t>
            </a:r>
            <a:r>
              <a:rPr lang="en-US" sz="4000" b="1" dirty="0" err="1">
                <a:solidFill>
                  <a:srgbClr val="FFFFFF"/>
                </a:solidFill>
                <a:latin typeface="Arial"/>
                <a:ea typeface="Arial"/>
                <a:cs typeface="Arial"/>
                <a:sym typeface="Arial"/>
              </a:rPr>
              <a:t>hệ</a:t>
            </a:r>
            <a:r>
              <a:rPr lang="en-US" sz="4000" b="1" dirty="0">
                <a:solidFill>
                  <a:srgbClr val="FFFFFF"/>
                </a:solidFill>
                <a:latin typeface="Arial"/>
                <a:ea typeface="Arial"/>
                <a:cs typeface="Arial"/>
                <a:sym typeface="Arial"/>
              </a:rPr>
              <a:t> </a:t>
            </a:r>
            <a:r>
              <a:rPr lang="en-US" sz="4000" b="1" dirty="0" err="1">
                <a:solidFill>
                  <a:srgbClr val="FFFFFF"/>
                </a:solidFill>
                <a:latin typeface="Arial"/>
                <a:ea typeface="Arial"/>
                <a:cs typeface="Arial"/>
                <a:sym typeface="Arial"/>
              </a:rPr>
              <a:t>thống</a:t>
            </a:r>
            <a:r>
              <a:rPr lang="en-US" sz="4000" dirty="0">
                <a:solidFill>
                  <a:srgbClr val="FFFFFF"/>
                </a:solidFill>
                <a:latin typeface="Arial"/>
                <a:ea typeface="Arial"/>
                <a:cs typeface="Arial"/>
                <a:sym typeface="Arial"/>
              </a:rPr>
              <a:t>: Microservices </a:t>
            </a:r>
            <a:r>
              <a:rPr lang="en-US" sz="4000" dirty="0" err="1">
                <a:solidFill>
                  <a:srgbClr val="FFFFFF"/>
                </a:solidFill>
                <a:latin typeface="Arial"/>
                <a:ea typeface="Arial"/>
                <a:cs typeface="Arial"/>
                <a:sym typeface="Arial"/>
              </a:rPr>
              <a:t>với</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ba</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dịch</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vụ</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độc</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lập</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áp</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dụng</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cơ</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chế</a:t>
            </a:r>
            <a:r>
              <a:rPr lang="en-US" sz="4000" dirty="0">
                <a:solidFill>
                  <a:srgbClr val="FFFFFF"/>
                </a:solidFill>
                <a:latin typeface="Arial"/>
                <a:ea typeface="Arial"/>
                <a:cs typeface="Arial"/>
                <a:sym typeface="Arial"/>
              </a:rPr>
              <a:t> Database-per-service.</a:t>
            </a:r>
          </a:p>
        </p:txBody>
      </p:sp>
      <p:sp>
        <p:nvSpPr>
          <p:cNvPr id="7" name="TextBox 7"/>
          <p:cNvSpPr txBox="1"/>
          <p:nvPr/>
        </p:nvSpPr>
        <p:spPr>
          <a:xfrm>
            <a:off x="1305668" y="4573265"/>
            <a:ext cx="15953632" cy="2266950"/>
          </a:xfrm>
          <a:prstGeom prst="rect">
            <a:avLst/>
          </a:prstGeom>
        </p:spPr>
        <p:txBody>
          <a:bodyPr lIns="0" tIns="0" rIns="0" bIns="0" rtlCol="0" anchor="t">
            <a:spAutoFit/>
          </a:bodyPr>
          <a:lstStyle/>
          <a:p>
            <a:pPr algn="just">
              <a:lnSpc>
                <a:spcPts val="6000"/>
              </a:lnSpc>
            </a:pPr>
            <a:r>
              <a:rPr lang="en-US" sz="4000" b="1" dirty="0">
                <a:solidFill>
                  <a:srgbClr val="FFFFFF"/>
                </a:solidFill>
                <a:latin typeface="Arial"/>
                <a:ea typeface="Arial"/>
                <a:cs typeface="Arial"/>
                <a:sym typeface="Arial"/>
              </a:rPr>
              <a:t>Trí </a:t>
            </a:r>
            <a:r>
              <a:rPr lang="en-US" sz="4000" b="1" dirty="0" err="1">
                <a:solidFill>
                  <a:srgbClr val="FFFFFF"/>
                </a:solidFill>
                <a:latin typeface="Arial"/>
                <a:ea typeface="Arial"/>
                <a:cs typeface="Arial"/>
                <a:sym typeface="Arial"/>
              </a:rPr>
              <a:t>tuệ</a:t>
            </a:r>
            <a:r>
              <a:rPr lang="en-US" sz="4000" b="1" dirty="0">
                <a:solidFill>
                  <a:srgbClr val="FFFFFF"/>
                </a:solidFill>
                <a:latin typeface="Arial"/>
                <a:ea typeface="Arial"/>
                <a:cs typeface="Arial"/>
                <a:sym typeface="Arial"/>
              </a:rPr>
              <a:t> </a:t>
            </a:r>
            <a:r>
              <a:rPr lang="en-US" sz="4000" b="1" dirty="0" err="1">
                <a:solidFill>
                  <a:srgbClr val="FFFFFF"/>
                </a:solidFill>
                <a:latin typeface="Arial"/>
                <a:ea typeface="Arial"/>
                <a:cs typeface="Arial"/>
                <a:sym typeface="Arial"/>
              </a:rPr>
              <a:t>nhân</a:t>
            </a:r>
            <a:r>
              <a:rPr lang="en-US" sz="4000" b="1" dirty="0">
                <a:solidFill>
                  <a:srgbClr val="FFFFFF"/>
                </a:solidFill>
                <a:latin typeface="Arial"/>
                <a:ea typeface="Arial"/>
                <a:cs typeface="Arial"/>
                <a:sym typeface="Arial"/>
              </a:rPr>
              <a:t> </a:t>
            </a:r>
            <a:r>
              <a:rPr lang="en-US" sz="4000" b="1" dirty="0" err="1">
                <a:solidFill>
                  <a:srgbClr val="FFFFFF"/>
                </a:solidFill>
                <a:latin typeface="Arial"/>
                <a:ea typeface="Arial"/>
                <a:cs typeface="Arial"/>
                <a:sym typeface="Arial"/>
              </a:rPr>
              <a:t>tạo</a:t>
            </a:r>
            <a:r>
              <a:rPr lang="en-US" sz="4000" b="1" dirty="0">
                <a:solidFill>
                  <a:srgbClr val="FFFFFF"/>
                </a:solidFill>
                <a:latin typeface="Arial"/>
                <a:ea typeface="Arial"/>
                <a:cs typeface="Arial"/>
                <a:sym typeface="Arial"/>
              </a:rPr>
              <a:t> (AI)</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Triển</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khai</a:t>
            </a:r>
            <a:r>
              <a:rPr lang="en-US" sz="4000" dirty="0">
                <a:solidFill>
                  <a:srgbClr val="FFFFFF"/>
                </a:solidFill>
                <a:latin typeface="Arial"/>
                <a:ea typeface="Arial"/>
                <a:cs typeface="Arial"/>
                <a:sym typeface="Arial"/>
              </a:rPr>
              <a:t> chatbot AI </a:t>
            </a:r>
            <a:r>
              <a:rPr lang="en-US" sz="4000" dirty="0" err="1">
                <a:solidFill>
                  <a:srgbClr val="FFFFFF"/>
                </a:solidFill>
                <a:latin typeface="Arial"/>
                <a:ea typeface="Arial"/>
                <a:cs typeface="Arial"/>
                <a:sym typeface="Arial"/>
              </a:rPr>
              <a:t>tư</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vấn</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thông</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minh</a:t>
            </a:r>
            <a:r>
              <a:rPr lang="en-US" sz="4000" dirty="0">
                <a:solidFill>
                  <a:srgbClr val="FFFFFF"/>
                </a:solidFill>
                <a:latin typeface="Arial"/>
                <a:ea typeface="Arial"/>
                <a:cs typeface="Arial"/>
                <a:sym typeface="Arial"/>
              </a:rPr>
              <a:t> 24/7, </a:t>
            </a:r>
            <a:r>
              <a:rPr lang="en-US" sz="4000" dirty="0" err="1">
                <a:solidFill>
                  <a:srgbClr val="FFFFFF"/>
                </a:solidFill>
                <a:latin typeface="Arial"/>
                <a:ea typeface="Arial"/>
                <a:cs typeface="Arial"/>
                <a:sym typeface="Arial"/>
              </a:rPr>
              <a:t>dữ</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liệu</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chuẩn</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hóa</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của</a:t>
            </a:r>
            <a:r>
              <a:rPr lang="en-US" sz="4000" dirty="0">
                <a:solidFill>
                  <a:srgbClr val="FFFFFF"/>
                </a:solidFill>
                <a:latin typeface="Arial"/>
                <a:ea typeface="Arial"/>
                <a:cs typeface="Arial"/>
                <a:sym typeface="Arial"/>
              </a:rPr>
              <a:t> Viện Dinh </a:t>
            </a:r>
            <a:r>
              <a:rPr lang="en-US" sz="4000" dirty="0" err="1">
                <a:solidFill>
                  <a:srgbClr val="FFFFFF"/>
                </a:solidFill>
                <a:latin typeface="Arial"/>
                <a:ea typeface="Arial"/>
                <a:cs typeface="Arial"/>
                <a:sym typeface="Arial"/>
              </a:rPr>
              <a:t>dưỡng</a:t>
            </a:r>
            <a:r>
              <a:rPr lang="en-US" sz="4000" dirty="0">
                <a:solidFill>
                  <a:srgbClr val="FFFFFF"/>
                </a:solidFill>
                <a:latin typeface="Arial"/>
                <a:ea typeface="Arial"/>
                <a:cs typeface="Arial"/>
                <a:sym typeface="Arial"/>
              </a:rPr>
              <a:t> Quốc </a:t>
            </a:r>
            <a:r>
              <a:rPr lang="en-US" sz="4000" dirty="0" err="1">
                <a:solidFill>
                  <a:srgbClr val="FFFFFF"/>
                </a:solidFill>
                <a:latin typeface="Arial"/>
                <a:ea typeface="Arial"/>
                <a:cs typeface="Arial"/>
                <a:sym typeface="Arial"/>
              </a:rPr>
              <a:t>gia</a:t>
            </a:r>
            <a:r>
              <a:rPr lang="en-US" sz="4000" dirty="0">
                <a:solidFill>
                  <a:srgbClr val="FFFFFF"/>
                </a:solidFill>
                <a:latin typeface="Arial"/>
                <a:ea typeface="Arial"/>
                <a:cs typeface="Arial"/>
                <a:sym typeface="Arial"/>
              </a:rPr>
              <a:t> Việt Nam, </a:t>
            </a:r>
            <a:r>
              <a:rPr lang="en-US" sz="4000" dirty="0" err="1">
                <a:solidFill>
                  <a:srgbClr val="FFFFFF"/>
                </a:solidFill>
                <a:latin typeface="Arial"/>
                <a:ea typeface="Arial"/>
                <a:cs typeface="Arial"/>
                <a:sym typeface="Arial"/>
              </a:rPr>
              <a:t>đem</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lại</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câu</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trả</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lời</a:t>
            </a:r>
            <a:r>
              <a:rPr lang="en-US" sz="4000" dirty="0">
                <a:solidFill>
                  <a:srgbClr val="FFFFFF"/>
                </a:solidFill>
                <a:latin typeface="Arial"/>
                <a:ea typeface="Arial"/>
                <a:cs typeface="Arial"/>
                <a:sym typeface="Arial"/>
              </a:rPr>
              <a:t> tin </a:t>
            </a:r>
            <a:r>
              <a:rPr lang="en-US" sz="4000" dirty="0" err="1">
                <a:solidFill>
                  <a:srgbClr val="FFFFFF"/>
                </a:solidFill>
                <a:latin typeface="Arial"/>
                <a:ea typeface="Arial"/>
                <a:cs typeface="Arial"/>
                <a:sym typeface="Arial"/>
              </a:rPr>
              <a:t>cậy</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bám</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sát</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thể</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trạng</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người</a:t>
            </a:r>
            <a:r>
              <a:rPr lang="en-US" sz="4000" dirty="0">
                <a:solidFill>
                  <a:srgbClr val="FFFFFF"/>
                </a:solidFill>
                <a:latin typeface="Arial"/>
                <a:ea typeface="Arial"/>
                <a:cs typeface="Arial"/>
                <a:sym typeface="Arial"/>
              </a:rPr>
              <a:t> Việt.</a:t>
            </a:r>
          </a:p>
        </p:txBody>
      </p:sp>
      <p:sp>
        <p:nvSpPr>
          <p:cNvPr id="8" name="TextBox 8"/>
          <p:cNvSpPr txBox="1"/>
          <p:nvPr/>
        </p:nvSpPr>
        <p:spPr>
          <a:xfrm>
            <a:off x="1305668" y="7440147"/>
            <a:ext cx="15953632" cy="1504950"/>
          </a:xfrm>
          <a:prstGeom prst="rect">
            <a:avLst/>
          </a:prstGeom>
        </p:spPr>
        <p:txBody>
          <a:bodyPr lIns="0" tIns="0" rIns="0" bIns="0" rtlCol="0" anchor="t">
            <a:spAutoFit/>
          </a:bodyPr>
          <a:lstStyle/>
          <a:p>
            <a:pPr algn="just">
              <a:lnSpc>
                <a:spcPts val="6000"/>
              </a:lnSpc>
            </a:pPr>
            <a:r>
              <a:rPr lang="en-US" sz="4000" b="1" dirty="0" err="1">
                <a:solidFill>
                  <a:srgbClr val="FFFFFF"/>
                </a:solidFill>
                <a:latin typeface="Arial"/>
                <a:ea typeface="Arial"/>
                <a:cs typeface="Arial"/>
                <a:sym typeface="Arial"/>
              </a:rPr>
              <a:t>Triển</a:t>
            </a:r>
            <a:r>
              <a:rPr lang="en-US" sz="4000" b="1" dirty="0">
                <a:solidFill>
                  <a:srgbClr val="FFFFFF"/>
                </a:solidFill>
                <a:latin typeface="Arial"/>
                <a:ea typeface="Arial"/>
                <a:cs typeface="Arial"/>
                <a:sym typeface="Arial"/>
              </a:rPr>
              <a:t> </a:t>
            </a:r>
            <a:r>
              <a:rPr lang="en-US" sz="4000" b="1" dirty="0" err="1">
                <a:solidFill>
                  <a:srgbClr val="FFFFFF"/>
                </a:solidFill>
                <a:latin typeface="Arial"/>
                <a:ea typeface="Arial"/>
                <a:cs typeface="Arial"/>
                <a:sym typeface="Arial"/>
              </a:rPr>
              <a:t>khai</a:t>
            </a:r>
            <a:r>
              <a:rPr lang="en-US" sz="4000" b="1" dirty="0">
                <a:solidFill>
                  <a:srgbClr val="FFFFFF"/>
                </a:solidFill>
                <a:latin typeface="Arial"/>
                <a:ea typeface="Arial"/>
                <a:cs typeface="Arial"/>
                <a:sym typeface="Arial"/>
              </a:rPr>
              <a:t> </a:t>
            </a:r>
            <a:r>
              <a:rPr lang="en-US" sz="4000" b="1" dirty="0" err="1">
                <a:solidFill>
                  <a:srgbClr val="FFFFFF"/>
                </a:solidFill>
                <a:latin typeface="Arial"/>
                <a:ea typeface="Arial"/>
                <a:cs typeface="Arial"/>
                <a:sym typeface="Arial"/>
              </a:rPr>
              <a:t>và</a:t>
            </a:r>
            <a:r>
              <a:rPr lang="en-US" sz="4000" b="1" dirty="0">
                <a:solidFill>
                  <a:srgbClr val="FFFFFF"/>
                </a:solidFill>
                <a:latin typeface="Arial"/>
                <a:ea typeface="Arial"/>
                <a:cs typeface="Arial"/>
                <a:sym typeface="Arial"/>
              </a:rPr>
              <a:t> </a:t>
            </a:r>
            <a:r>
              <a:rPr lang="en-US" sz="4000" b="1" dirty="0" err="1">
                <a:solidFill>
                  <a:srgbClr val="FFFFFF"/>
                </a:solidFill>
                <a:latin typeface="Arial"/>
                <a:ea typeface="Arial"/>
                <a:cs typeface="Arial"/>
                <a:sym typeface="Arial"/>
              </a:rPr>
              <a:t>vận</a:t>
            </a:r>
            <a:r>
              <a:rPr lang="en-US" sz="4000" b="1" dirty="0">
                <a:solidFill>
                  <a:srgbClr val="FFFFFF"/>
                </a:solidFill>
                <a:latin typeface="Arial"/>
                <a:ea typeface="Arial"/>
                <a:cs typeface="Arial"/>
                <a:sym typeface="Arial"/>
              </a:rPr>
              <a:t> </a:t>
            </a:r>
            <a:r>
              <a:rPr lang="en-US" sz="4000" b="1" dirty="0" err="1">
                <a:solidFill>
                  <a:srgbClr val="FFFFFF"/>
                </a:solidFill>
                <a:latin typeface="Arial"/>
                <a:ea typeface="Arial"/>
                <a:cs typeface="Arial"/>
                <a:sym typeface="Arial"/>
              </a:rPr>
              <a:t>hành</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Đóng</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gói</a:t>
            </a:r>
            <a:r>
              <a:rPr lang="en-US" sz="4000" dirty="0">
                <a:solidFill>
                  <a:srgbClr val="FFFFFF"/>
                </a:solidFill>
                <a:latin typeface="Arial"/>
                <a:ea typeface="Arial"/>
                <a:cs typeface="Arial"/>
                <a:sym typeface="Arial"/>
              </a:rPr>
              <a:t> (Docker) </a:t>
            </a:r>
            <a:r>
              <a:rPr lang="en-US" sz="4000" dirty="0" err="1">
                <a:solidFill>
                  <a:srgbClr val="FFFFFF"/>
                </a:solidFill>
                <a:latin typeface="Arial"/>
                <a:ea typeface="Arial"/>
                <a:cs typeface="Arial"/>
                <a:sym typeface="Arial"/>
              </a:rPr>
              <a:t>và</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triển</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khai</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trên</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điện</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toán</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đám</a:t>
            </a:r>
            <a:r>
              <a:rPr lang="en-US" sz="4000" dirty="0">
                <a:solidFill>
                  <a:srgbClr val="FFFFFF"/>
                </a:solidFill>
                <a:latin typeface="Arial"/>
                <a:ea typeface="Arial"/>
                <a:cs typeface="Arial"/>
                <a:sym typeface="Arial"/>
              </a:rPr>
              <a:t> </a:t>
            </a:r>
            <a:r>
              <a:rPr lang="en-US" sz="4000" dirty="0" err="1">
                <a:solidFill>
                  <a:srgbClr val="FFFFFF"/>
                </a:solidFill>
                <a:latin typeface="Arial"/>
                <a:ea typeface="Arial"/>
                <a:cs typeface="Arial"/>
                <a:sym typeface="Arial"/>
              </a:rPr>
              <a:t>mây</a:t>
            </a:r>
            <a:r>
              <a:rPr lang="en-US" sz="4000" dirty="0">
                <a:solidFill>
                  <a:srgbClr val="FFFFFF"/>
                </a:solidFill>
                <a:latin typeface="Arial"/>
                <a:ea typeface="Arial"/>
                <a:cs typeface="Arial"/>
                <a:sym typeface="Arial"/>
              </a:rPr>
              <a:t> AWS.</a:t>
            </a:r>
          </a:p>
        </p:txBody>
      </p:sp>
      <p:sp>
        <p:nvSpPr>
          <p:cNvPr id="9" name="Freeform 9"/>
          <p:cNvSpPr/>
          <p:nvPr/>
        </p:nvSpPr>
        <p:spPr>
          <a:xfrm>
            <a:off x="-4789616" y="5111230"/>
            <a:ext cx="22486195" cy="6296135"/>
          </a:xfrm>
          <a:custGeom>
            <a:avLst/>
            <a:gdLst/>
            <a:ahLst/>
            <a:cxnLst/>
            <a:rect l="l" t="t" r="r" b="b"/>
            <a:pathLst>
              <a:path w="22486195" h="6296135">
                <a:moveTo>
                  <a:pt x="0" y="0"/>
                </a:moveTo>
                <a:lnTo>
                  <a:pt x="22486196" y="0"/>
                </a:lnTo>
                <a:lnTo>
                  <a:pt x="22486196" y="6296135"/>
                </a:lnTo>
                <a:lnTo>
                  <a:pt x="0" y="6296135"/>
                </a:lnTo>
                <a:lnTo>
                  <a:pt x="0" y="0"/>
                </a:lnTo>
                <a:close/>
              </a:path>
            </a:pathLst>
          </a:custGeom>
          <a:blipFill>
            <a:blip>
              <a:alphaModFix amt="13000"/>
              <a:extLst>
                <a:ext uri="{96DAC541-7B7A-43D3-8B79-37D633B846F1}">
                  <asvg:svgBlip xmlns:asvg="http://schemas.microsoft.com/office/drawing/2016/SVG/main" r:embed="rId2"/>
                </a:ext>
              </a:extLst>
            </a:blip>
            <a:stretch>
              <a:fillRect/>
            </a:stretch>
          </a:blipFill>
        </p:spPr>
      </p:sp>
      <p:sp>
        <p:nvSpPr>
          <p:cNvPr id="10" name="Freeform 10"/>
          <p:cNvSpPr/>
          <p:nvPr/>
        </p:nvSpPr>
        <p:spPr>
          <a:xfrm>
            <a:off x="1028700" y="4705509"/>
            <a:ext cx="22486195" cy="6296135"/>
          </a:xfrm>
          <a:custGeom>
            <a:avLst/>
            <a:gdLst/>
            <a:ahLst/>
            <a:cxnLst/>
            <a:rect l="l" t="t" r="r" b="b"/>
            <a:pathLst>
              <a:path w="22486195" h="6296135">
                <a:moveTo>
                  <a:pt x="0" y="0"/>
                </a:moveTo>
                <a:lnTo>
                  <a:pt x="22486195" y="0"/>
                </a:lnTo>
                <a:lnTo>
                  <a:pt x="22486195" y="6296135"/>
                </a:lnTo>
                <a:lnTo>
                  <a:pt x="0" y="6296135"/>
                </a:lnTo>
                <a:lnTo>
                  <a:pt x="0" y="0"/>
                </a:lnTo>
                <a:close/>
              </a:path>
            </a:pathLst>
          </a:custGeom>
          <a:blipFill>
            <a:blip>
              <a:alphaModFix amt="13000"/>
              <a:extLst>
                <a:ext uri="{96DAC541-7B7A-43D3-8B79-37D633B846F1}">
                  <asvg:svgBlip xmlns:asvg="http://schemas.microsoft.com/office/drawing/2016/SVG/main" r:embed="rId2"/>
                </a:ext>
              </a:extLst>
            </a:blip>
            <a:stretch>
              <a:fillRect/>
            </a:stretch>
          </a:blipFill>
        </p:spPr>
      </p:sp>
      <p:sp>
        <p:nvSpPr>
          <p:cNvPr id="11" name="Freeform 11"/>
          <p:cNvSpPr/>
          <p:nvPr/>
        </p:nvSpPr>
        <p:spPr>
          <a:xfrm>
            <a:off x="1660863" y="-882063"/>
            <a:ext cx="22486195" cy="6296135"/>
          </a:xfrm>
          <a:custGeom>
            <a:avLst/>
            <a:gdLst/>
            <a:ahLst/>
            <a:cxnLst/>
            <a:rect l="l" t="t" r="r" b="b"/>
            <a:pathLst>
              <a:path w="22486195" h="6296135">
                <a:moveTo>
                  <a:pt x="0" y="0"/>
                </a:moveTo>
                <a:lnTo>
                  <a:pt x="22486195" y="0"/>
                </a:lnTo>
                <a:lnTo>
                  <a:pt x="22486195" y="6296135"/>
                </a:lnTo>
                <a:lnTo>
                  <a:pt x="0" y="6296135"/>
                </a:lnTo>
                <a:lnTo>
                  <a:pt x="0" y="0"/>
                </a:lnTo>
                <a:close/>
              </a:path>
            </a:pathLst>
          </a:custGeom>
          <a:blipFill>
            <a:blip>
              <a:alphaModFix amt="13000"/>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033">
                <a:alpha val="100000"/>
              </a:srgbClr>
            </a:gs>
            <a:gs pos="100000">
              <a:srgbClr val="143993">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13159"/>
            <a:ext cx="2779059" cy="2222253"/>
          </a:xfrm>
          <a:custGeom>
            <a:avLst/>
            <a:gdLst/>
            <a:ahLst/>
            <a:cxnLst/>
            <a:rect l="l" t="t" r="r" b="b"/>
            <a:pathLst>
              <a:path w="2779059" h="2222253">
                <a:moveTo>
                  <a:pt x="0" y="0"/>
                </a:moveTo>
                <a:lnTo>
                  <a:pt x="2779059" y="0"/>
                </a:lnTo>
                <a:lnTo>
                  <a:pt x="2779059" y="2222253"/>
                </a:lnTo>
                <a:lnTo>
                  <a:pt x="0" y="2222253"/>
                </a:lnTo>
                <a:lnTo>
                  <a:pt x="0" y="0"/>
                </a:lnTo>
                <a:close/>
              </a:path>
            </a:pathLst>
          </a:custGeom>
          <a:blipFill>
            <a:blip r:embed="rId2"/>
            <a:stretch>
              <a:fillRect/>
            </a:stretch>
          </a:blipFill>
        </p:spPr>
      </p:sp>
      <p:sp>
        <p:nvSpPr>
          <p:cNvPr id="3" name="TextBox 3"/>
          <p:cNvSpPr txBox="1"/>
          <p:nvPr/>
        </p:nvSpPr>
        <p:spPr>
          <a:xfrm>
            <a:off x="2393587" y="597271"/>
            <a:ext cx="14865713" cy="695325"/>
          </a:xfrm>
          <a:prstGeom prst="rect">
            <a:avLst/>
          </a:prstGeom>
        </p:spPr>
        <p:txBody>
          <a:bodyPr lIns="0" tIns="0" rIns="0" bIns="0" rtlCol="0" anchor="t">
            <a:spAutoFit/>
          </a:bodyPr>
          <a:lstStyle/>
          <a:p>
            <a:pPr algn="ctr">
              <a:lnSpc>
                <a:spcPts val="5400"/>
              </a:lnSpc>
              <a:spcBef>
                <a:spcPct val="0"/>
              </a:spcBef>
            </a:pPr>
            <a:r>
              <a:rPr lang="en-US" sz="4500">
                <a:solidFill>
                  <a:srgbClr val="FF5757"/>
                </a:solidFill>
                <a:latin typeface="Sigmar One"/>
                <a:ea typeface="Sigmar One"/>
                <a:cs typeface="Sigmar One"/>
                <a:sym typeface="Sigmar One"/>
              </a:rPr>
              <a:t>V - KẾT LUẬN VÀ HƯỚNG PHÁT TRIỂN</a:t>
            </a:r>
          </a:p>
        </p:txBody>
      </p:sp>
      <p:sp>
        <p:nvSpPr>
          <p:cNvPr id="4" name="TextBox 4"/>
          <p:cNvSpPr txBox="1"/>
          <p:nvPr/>
        </p:nvSpPr>
        <p:spPr>
          <a:xfrm>
            <a:off x="2225703" y="1716696"/>
            <a:ext cx="3455701" cy="695325"/>
          </a:xfrm>
          <a:prstGeom prst="rect">
            <a:avLst/>
          </a:prstGeom>
        </p:spPr>
        <p:txBody>
          <a:bodyPr lIns="0" tIns="0" rIns="0" bIns="0" rtlCol="0" anchor="t">
            <a:spAutoFit/>
          </a:bodyPr>
          <a:lstStyle/>
          <a:p>
            <a:pPr algn="ctr">
              <a:lnSpc>
                <a:spcPts val="5400"/>
              </a:lnSpc>
              <a:spcBef>
                <a:spcPct val="0"/>
              </a:spcBef>
            </a:pPr>
            <a:r>
              <a:rPr lang="en-US" sz="4500">
                <a:solidFill>
                  <a:srgbClr val="FFEB99"/>
                </a:solidFill>
                <a:latin typeface="Sigmar One"/>
                <a:ea typeface="Sigmar One"/>
                <a:cs typeface="Sigmar One"/>
                <a:sym typeface="Sigmar One"/>
              </a:rPr>
              <a:t>2.hạn chế</a:t>
            </a:r>
          </a:p>
        </p:txBody>
      </p:sp>
      <p:sp>
        <p:nvSpPr>
          <p:cNvPr id="5" name="TextBox 5"/>
          <p:cNvSpPr txBox="1"/>
          <p:nvPr/>
        </p:nvSpPr>
        <p:spPr>
          <a:xfrm>
            <a:off x="1028700" y="2712296"/>
            <a:ext cx="16532623" cy="2266950"/>
          </a:xfrm>
          <a:prstGeom prst="rect">
            <a:avLst/>
          </a:prstGeom>
        </p:spPr>
        <p:txBody>
          <a:bodyPr lIns="0" tIns="0" rIns="0" bIns="0" rtlCol="0" anchor="t">
            <a:spAutoFit/>
          </a:bodyPr>
          <a:lstStyle/>
          <a:p>
            <a:pPr algn="just">
              <a:lnSpc>
                <a:spcPts val="6000"/>
              </a:lnSpc>
            </a:pPr>
            <a:r>
              <a:rPr lang="en-US" sz="4000">
                <a:solidFill>
                  <a:srgbClr val="FFFFFF"/>
                </a:solidFill>
                <a:latin typeface="Arial"/>
                <a:ea typeface="Arial"/>
                <a:cs typeface="Arial"/>
                <a:sym typeface="Arial"/>
              </a:rPr>
              <a:t>Hệ thống phụ thuộc hoàn toàn vào kết nối mạng Internet.Việc triển khai trên một Availability Zone duy nhất tiềm ẩn rủi ro nếu xảy ra sự cố hạ tầng cục bộ.</a:t>
            </a:r>
          </a:p>
        </p:txBody>
      </p:sp>
      <p:sp>
        <p:nvSpPr>
          <p:cNvPr id="6" name="TextBox 6"/>
          <p:cNvSpPr txBox="1"/>
          <p:nvPr/>
        </p:nvSpPr>
        <p:spPr>
          <a:xfrm>
            <a:off x="953194" y="5482448"/>
            <a:ext cx="16532623" cy="1504950"/>
          </a:xfrm>
          <a:prstGeom prst="rect">
            <a:avLst/>
          </a:prstGeom>
        </p:spPr>
        <p:txBody>
          <a:bodyPr lIns="0" tIns="0" rIns="0" bIns="0" rtlCol="0" anchor="t">
            <a:spAutoFit/>
          </a:bodyPr>
          <a:lstStyle/>
          <a:p>
            <a:pPr algn="just">
              <a:lnSpc>
                <a:spcPts val="6000"/>
              </a:lnSpc>
            </a:pPr>
            <a:r>
              <a:rPr lang="en-US" sz="4000">
                <a:solidFill>
                  <a:srgbClr val="FFFFFF"/>
                </a:solidFill>
                <a:latin typeface="Arial"/>
                <a:ea typeface="Arial"/>
                <a:cs typeface="Arial"/>
                <a:sym typeface="Arial"/>
              </a:rPr>
              <a:t>Phụ thuộc vào dịch vụ AI bên ngoài (Gemini API) dẫn đến rủi ro về hạn mức giới hạn và độ ổn định khi mở rộng quy mô lớn.</a:t>
            </a:r>
          </a:p>
        </p:txBody>
      </p:sp>
      <p:sp>
        <p:nvSpPr>
          <p:cNvPr id="7" name="TextBox 7"/>
          <p:cNvSpPr txBox="1"/>
          <p:nvPr/>
        </p:nvSpPr>
        <p:spPr>
          <a:xfrm>
            <a:off x="1028700" y="7720823"/>
            <a:ext cx="16381612" cy="742950"/>
          </a:xfrm>
          <a:prstGeom prst="rect">
            <a:avLst/>
          </a:prstGeom>
        </p:spPr>
        <p:txBody>
          <a:bodyPr lIns="0" tIns="0" rIns="0" bIns="0" rtlCol="0" anchor="t">
            <a:spAutoFit/>
          </a:bodyPr>
          <a:lstStyle/>
          <a:p>
            <a:pPr algn="just">
              <a:lnSpc>
                <a:spcPts val="6000"/>
              </a:lnSpc>
            </a:pPr>
            <a:r>
              <a:rPr lang="en-US" sz="4000">
                <a:solidFill>
                  <a:srgbClr val="FFFFFF"/>
                </a:solidFill>
                <a:latin typeface="Arial"/>
                <a:ea typeface="Arial"/>
                <a:cs typeface="Arial"/>
                <a:sym typeface="Arial"/>
              </a:rPr>
              <a:t>Phương thức thanh toán hiện tại còn hẹp (mới chỉ hỗ trợ cổng VNPAY).</a:t>
            </a:r>
          </a:p>
        </p:txBody>
      </p:sp>
      <p:sp>
        <p:nvSpPr>
          <p:cNvPr id="8" name="Freeform 8"/>
          <p:cNvSpPr/>
          <p:nvPr/>
        </p:nvSpPr>
        <p:spPr>
          <a:xfrm rot="-5400000">
            <a:off x="3025611" y="2823114"/>
            <a:ext cx="24846316" cy="6956968"/>
          </a:xfrm>
          <a:custGeom>
            <a:avLst/>
            <a:gdLst/>
            <a:ahLst/>
            <a:cxnLst/>
            <a:rect l="l" t="t" r="r" b="b"/>
            <a:pathLst>
              <a:path w="24846316" h="6956968">
                <a:moveTo>
                  <a:pt x="0" y="0"/>
                </a:moveTo>
                <a:lnTo>
                  <a:pt x="24846316" y="0"/>
                </a:lnTo>
                <a:lnTo>
                  <a:pt x="24846316" y="6956968"/>
                </a:lnTo>
                <a:lnTo>
                  <a:pt x="0" y="6956968"/>
                </a:lnTo>
                <a:lnTo>
                  <a:pt x="0" y="0"/>
                </a:lnTo>
                <a:close/>
              </a:path>
            </a:pathLst>
          </a:custGeom>
          <a:blipFill>
            <a:blip>
              <a:alphaModFix amt="13000"/>
              <a:extLst>
                <a:ext uri="{96DAC541-7B7A-43D3-8B79-37D633B846F1}">
                  <asvg:svgBlip xmlns:asvg="http://schemas.microsoft.com/office/drawing/2016/SVG/main" r:embed="rId3"/>
                </a:ext>
              </a:extLst>
            </a:blip>
            <a:stretch>
              <a:fillRect/>
            </a:stretch>
          </a:blipFill>
        </p:spPr>
      </p:sp>
      <p:sp>
        <p:nvSpPr>
          <p:cNvPr id="9" name="Freeform 9"/>
          <p:cNvSpPr/>
          <p:nvPr/>
        </p:nvSpPr>
        <p:spPr>
          <a:xfrm rot="5400000">
            <a:off x="-10649086" y="3508914"/>
            <a:ext cx="24846316" cy="6956968"/>
          </a:xfrm>
          <a:custGeom>
            <a:avLst/>
            <a:gdLst/>
            <a:ahLst/>
            <a:cxnLst/>
            <a:rect l="l" t="t" r="r" b="b"/>
            <a:pathLst>
              <a:path w="24846316" h="6956968">
                <a:moveTo>
                  <a:pt x="0" y="0"/>
                </a:moveTo>
                <a:lnTo>
                  <a:pt x="24846316" y="0"/>
                </a:lnTo>
                <a:lnTo>
                  <a:pt x="24846316" y="6956968"/>
                </a:lnTo>
                <a:lnTo>
                  <a:pt x="0" y="6956968"/>
                </a:lnTo>
                <a:lnTo>
                  <a:pt x="0" y="0"/>
                </a:lnTo>
                <a:close/>
              </a:path>
            </a:pathLst>
          </a:custGeom>
          <a:blipFill>
            <a:blip>
              <a:alphaModFix amt="13000"/>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033">
                <a:alpha val="100000"/>
              </a:srgbClr>
            </a:gs>
            <a:gs pos="100000">
              <a:srgbClr val="143993">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13159"/>
            <a:ext cx="2779059" cy="2222253"/>
          </a:xfrm>
          <a:custGeom>
            <a:avLst/>
            <a:gdLst/>
            <a:ahLst/>
            <a:cxnLst/>
            <a:rect l="l" t="t" r="r" b="b"/>
            <a:pathLst>
              <a:path w="2779059" h="2222253">
                <a:moveTo>
                  <a:pt x="0" y="0"/>
                </a:moveTo>
                <a:lnTo>
                  <a:pt x="2779059" y="0"/>
                </a:lnTo>
                <a:lnTo>
                  <a:pt x="2779059" y="2222253"/>
                </a:lnTo>
                <a:lnTo>
                  <a:pt x="0" y="2222253"/>
                </a:lnTo>
                <a:lnTo>
                  <a:pt x="0" y="0"/>
                </a:lnTo>
                <a:close/>
              </a:path>
            </a:pathLst>
          </a:custGeom>
          <a:blipFill>
            <a:blip r:embed="rId2"/>
            <a:stretch>
              <a:fillRect/>
            </a:stretch>
          </a:blipFill>
        </p:spPr>
      </p:sp>
      <p:sp>
        <p:nvSpPr>
          <p:cNvPr id="3" name="Freeform 3"/>
          <p:cNvSpPr/>
          <p:nvPr/>
        </p:nvSpPr>
        <p:spPr>
          <a:xfrm rot="-7577659">
            <a:off x="874104" y="3840240"/>
            <a:ext cx="10497501" cy="15905305"/>
          </a:xfrm>
          <a:custGeom>
            <a:avLst/>
            <a:gdLst/>
            <a:ahLst/>
            <a:cxnLst/>
            <a:rect l="l" t="t" r="r" b="b"/>
            <a:pathLst>
              <a:path w="10497501" h="15905305">
                <a:moveTo>
                  <a:pt x="0" y="0"/>
                </a:moveTo>
                <a:lnTo>
                  <a:pt x="10497501" y="0"/>
                </a:lnTo>
                <a:lnTo>
                  <a:pt x="10497501" y="15905305"/>
                </a:lnTo>
                <a:lnTo>
                  <a:pt x="0" y="15905305"/>
                </a:lnTo>
                <a:lnTo>
                  <a:pt x="0" y="0"/>
                </a:lnTo>
                <a:close/>
              </a:path>
            </a:pathLst>
          </a:custGeom>
          <a:blipFill>
            <a:blip>
              <a:alphaModFix amt="44999"/>
              <a:extLst>
                <a:ext uri="{96DAC541-7B7A-43D3-8B79-37D633B846F1}">
                  <asvg:svgBlip xmlns:asvg="http://schemas.microsoft.com/office/drawing/2016/SVG/main" r:embed="rId3"/>
                </a:ext>
              </a:extLst>
            </a:blip>
            <a:stretch>
              <a:fillRect/>
            </a:stretch>
          </a:blipFill>
        </p:spPr>
      </p:sp>
      <p:sp>
        <p:nvSpPr>
          <p:cNvPr id="4" name="Freeform 4"/>
          <p:cNvSpPr/>
          <p:nvPr/>
        </p:nvSpPr>
        <p:spPr>
          <a:xfrm>
            <a:off x="14927956" y="7676169"/>
            <a:ext cx="2077874" cy="2156285"/>
          </a:xfrm>
          <a:custGeom>
            <a:avLst/>
            <a:gdLst/>
            <a:ahLst/>
            <a:cxnLst/>
            <a:rect l="l" t="t" r="r" b="b"/>
            <a:pathLst>
              <a:path w="2077874" h="2156285">
                <a:moveTo>
                  <a:pt x="0" y="0"/>
                </a:moveTo>
                <a:lnTo>
                  <a:pt x="2077875" y="0"/>
                </a:lnTo>
                <a:lnTo>
                  <a:pt x="2077875" y="2156285"/>
                </a:lnTo>
                <a:lnTo>
                  <a:pt x="0" y="215628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7666608" y="-5532589"/>
            <a:ext cx="11862372" cy="11896168"/>
          </a:xfrm>
          <a:custGeom>
            <a:avLst/>
            <a:gdLst/>
            <a:ahLst/>
            <a:cxnLst/>
            <a:rect l="l" t="t" r="r" b="b"/>
            <a:pathLst>
              <a:path w="11862372" h="11896168">
                <a:moveTo>
                  <a:pt x="0" y="0"/>
                </a:moveTo>
                <a:lnTo>
                  <a:pt x="11862372" y="0"/>
                </a:lnTo>
                <a:lnTo>
                  <a:pt x="11862372" y="11896167"/>
                </a:lnTo>
                <a:lnTo>
                  <a:pt x="0" y="11896167"/>
                </a:lnTo>
                <a:lnTo>
                  <a:pt x="0" y="0"/>
                </a:lnTo>
                <a:close/>
              </a:path>
            </a:pathLst>
          </a:custGeom>
          <a:blipFill>
            <a:blip>
              <a:alphaModFix amt="59000"/>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2393587" y="597271"/>
            <a:ext cx="14865713" cy="695325"/>
          </a:xfrm>
          <a:prstGeom prst="rect">
            <a:avLst/>
          </a:prstGeom>
        </p:spPr>
        <p:txBody>
          <a:bodyPr lIns="0" tIns="0" rIns="0" bIns="0" rtlCol="0" anchor="t">
            <a:spAutoFit/>
          </a:bodyPr>
          <a:lstStyle/>
          <a:p>
            <a:pPr algn="ctr">
              <a:lnSpc>
                <a:spcPts val="5400"/>
              </a:lnSpc>
              <a:spcBef>
                <a:spcPct val="0"/>
              </a:spcBef>
            </a:pPr>
            <a:r>
              <a:rPr lang="en-US" sz="4500">
                <a:solidFill>
                  <a:srgbClr val="FF5757"/>
                </a:solidFill>
                <a:latin typeface="Sigmar One"/>
                <a:ea typeface="Sigmar One"/>
                <a:cs typeface="Sigmar One"/>
                <a:sym typeface="Sigmar One"/>
              </a:rPr>
              <a:t>V - KẾT LUẬN VÀ HƯỚNG PHÁT TRIỂN</a:t>
            </a:r>
          </a:p>
        </p:txBody>
      </p:sp>
      <p:sp>
        <p:nvSpPr>
          <p:cNvPr id="7" name="TextBox 7"/>
          <p:cNvSpPr txBox="1"/>
          <p:nvPr/>
        </p:nvSpPr>
        <p:spPr>
          <a:xfrm>
            <a:off x="1794780" y="2327115"/>
            <a:ext cx="7349220" cy="695325"/>
          </a:xfrm>
          <a:prstGeom prst="rect">
            <a:avLst/>
          </a:prstGeom>
        </p:spPr>
        <p:txBody>
          <a:bodyPr lIns="0" tIns="0" rIns="0" bIns="0" rtlCol="0" anchor="t">
            <a:spAutoFit/>
          </a:bodyPr>
          <a:lstStyle/>
          <a:p>
            <a:pPr algn="ctr">
              <a:lnSpc>
                <a:spcPts val="5400"/>
              </a:lnSpc>
              <a:spcBef>
                <a:spcPct val="0"/>
              </a:spcBef>
            </a:pPr>
            <a:r>
              <a:rPr lang="en-US" sz="4500">
                <a:solidFill>
                  <a:srgbClr val="FFEB99"/>
                </a:solidFill>
                <a:latin typeface="Sigmar One"/>
                <a:ea typeface="Sigmar One"/>
                <a:cs typeface="Sigmar One"/>
                <a:sym typeface="Sigmar One"/>
              </a:rPr>
              <a:t>3.Hướng phát triển </a:t>
            </a:r>
          </a:p>
        </p:txBody>
      </p:sp>
      <p:sp>
        <p:nvSpPr>
          <p:cNvPr id="8" name="TextBox 8"/>
          <p:cNvSpPr txBox="1"/>
          <p:nvPr/>
        </p:nvSpPr>
        <p:spPr>
          <a:xfrm>
            <a:off x="1794780" y="3698715"/>
            <a:ext cx="15464520" cy="2266950"/>
          </a:xfrm>
          <a:prstGeom prst="rect">
            <a:avLst/>
          </a:prstGeom>
        </p:spPr>
        <p:txBody>
          <a:bodyPr lIns="0" tIns="0" rIns="0" bIns="0" rtlCol="0" anchor="t">
            <a:spAutoFit/>
          </a:bodyPr>
          <a:lstStyle/>
          <a:p>
            <a:pPr algn="just">
              <a:lnSpc>
                <a:spcPts val="6000"/>
              </a:lnSpc>
            </a:pPr>
            <a:r>
              <a:rPr lang="en-US" sz="4000">
                <a:solidFill>
                  <a:srgbClr val="FFFFFF"/>
                </a:solidFill>
                <a:latin typeface="Arial"/>
                <a:ea typeface="Arial"/>
                <a:cs typeface="Arial"/>
                <a:sym typeface="Arial"/>
              </a:rPr>
              <a:t>Nâng cấp AI: phân tích hình ảnh/video</a:t>
            </a:r>
          </a:p>
          <a:p>
            <a:pPr marL="863603" lvl="1" indent="-431801" algn="just">
              <a:lnSpc>
                <a:spcPts val="6000"/>
              </a:lnSpc>
              <a:buFont typeface="Arial"/>
              <a:buChar char="•"/>
            </a:pPr>
            <a:r>
              <a:rPr lang="en-US" sz="4000">
                <a:solidFill>
                  <a:srgbClr val="FFFFFF"/>
                </a:solidFill>
                <a:latin typeface="Arial"/>
                <a:ea typeface="Arial"/>
                <a:cs typeface="Arial"/>
                <a:sym typeface="Arial"/>
              </a:rPr>
              <a:t>Giúp chỉnh sửa trực tiếp động tác tập luyện sai tư thế. </a:t>
            </a:r>
          </a:p>
          <a:p>
            <a:pPr marL="863603" lvl="1" indent="-431801" algn="just">
              <a:lnSpc>
                <a:spcPts val="6000"/>
              </a:lnSpc>
              <a:buFont typeface="Arial"/>
              <a:buChar char="•"/>
            </a:pPr>
            <a:r>
              <a:rPr lang="en-US" sz="4000">
                <a:solidFill>
                  <a:srgbClr val="FFFFFF"/>
                </a:solidFill>
                <a:latin typeface="Arial"/>
                <a:ea typeface="Arial"/>
                <a:cs typeface="Arial"/>
                <a:sym typeface="Arial"/>
              </a:rPr>
              <a:t>Phân tích calories món ăn qua hình ảnh chụp bữa ăn. </a:t>
            </a:r>
          </a:p>
        </p:txBody>
      </p:sp>
      <p:sp>
        <p:nvSpPr>
          <p:cNvPr id="9" name="Freeform 9"/>
          <p:cNvSpPr/>
          <p:nvPr/>
        </p:nvSpPr>
        <p:spPr>
          <a:xfrm>
            <a:off x="-2573592" y="-522720"/>
            <a:ext cx="22486195" cy="6296135"/>
          </a:xfrm>
          <a:custGeom>
            <a:avLst/>
            <a:gdLst/>
            <a:ahLst/>
            <a:cxnLst/>
            <a:rect l="l" t="t" r="r" b="b"/>
            <a:pathLst>
              <a:path w="22486195" h="6296135">
                <a:moveTo>
                  <a:pt x="0" y="0"/>
                </a:moveTo>
                <a:lnTo>
                  <a:pt x="22486196" y="0"/>
                </a:lnTo>
                <a:lnTo>
                  <a:pt x="22486196" y="6296135"/>
                </a:lnTo>
                <a:lnTo>
                  <a:pt x="0" y="6296135"/>
                </a:lnTo>
                <a:lnTo>
                  <a:pt x="0" y="0"/>
                </a:lnTo>
                <a:close/>
              </a:path>
            </a:pathLst>
          </a:custGeom>
          <a:blipFill>
            <a:blip>
              <a:alphaModFix amt="13000"/>
              <a:extLst>
                <a:ext uri="{96DAC541-7B7A-43D3-8B79-37D633B846F1}">
                  <asvg:svgBlip xmlns:asvg="http://schemas.microsoft.com/office/drawing/2016/SVG/main" r:embed="rId6"/>
                </a:ext>
              </a:extLst>
            </a:blip>
            <a:stretch>
              <a:fillRect/>
            </a:stretch>
          </a:blipFill>
        </p:spPr>
      </p:sp>
      <p:sp>
        <p:nvSpPr>
          <p:cNvPr id="10" name="Freeform 10"/>
          <p:cNvSpPr/>
          <p:nvPr/>
        </p:nvSpPr>
        <p:spPr>
          <a:xfrm flipH="1">
            <a:off x="14371177" y="1510279"/>
            <a:ext cx="3663537" cy="3825347"/>
          </a:xfrm>
          <a:custGeom>
            <a:avLst/>
            <a:gdLst/>
            <a:ahLst/>
            <a:cxnLst/>
            <a:rect l="l" t="t" r="r" b="b"/>
            <a:pathLst>
              <a:path w="3663537" h="3825347">
                <a:moveTo>
                  <a:pt x="3663537" y="0"/>
                </a:moveTo>
                <a:lnTo>
                  <a:pt x="0" y="0"/>
                </a:lnTo>
                <a:lnTo>
                  <a:pt x="0" y="3825347"/>
                </a:lnTo>
                <a:lnTo>
                  <a:pt x="3663537" y="3825347"/>
                </a:lnTo>
                <a:lnTo>
                  <a:pt x="3663537" y="0"/>
                </a:lnTo>
                <a:close/>
              </a:path>
            </a:pathLst>
          </a:custGeom>
          <a:blipFill>
            <a:blip>
              <a:alphaModFix amt="86000"/>
              <a:extLst>
                <a:ext uri="{96DAC541-7B7A-43D3-8B79-37D633B846F1}">
                  <asvg:svgBlip xmlns:asvg="http://schemas.microsoft.com/office/drawing/2016/SVG/main" r:embed="rId7"/>
                </a:ext>
              </a:extLst>
            </a:blip>
            <a:stretch>
              <a:fillRect/>
            </a:stretch>
          </a:blipFill>
        </p:spPr>
      </p:sp>
      <p:sp>
        <p:nvSpPr>
          <p:cNvPr id="11" name="Freeform 11"/>
          <p:cNvSpPr/>
          <p:nvPr/>
        </p:nvSpPr>
        <p:spPr>
          <a:xfrm>
            <a:off x="251641" y="5704995"/>
            <a:ext cx="1900647" cy="1971174"/>
          </a:xfrm>
          <a:custGeom>
            <a:avLst/>
            <a:gdLst/>
            <a:ahLst/>
            <a:cxnLst/>
            <a:rect l="l" t="t" r="r" b="b"/>
            <a:pathLst>
              <a:path w="1900647" h="1971174">
                <a:moveTo>
                  <a:pt x="0" y="0"/>
                </a:moveTo>
                <a:lnTo>
                  <a:pt x="1900647" y="0"/>
                </a:lnTo>
                <a:lnTo>
                  <a:pt x="1900647" y="1971174"/>
                </a:lnTo>
                <a:lnTo>
                  <a:pt x="0" y="1971174"/>
                </a:lnTo>
                <a:lnTo>
                  <a:pt x="0" y="0"/>
                </a:lnTo>
                <a:close/>
              </a:path>
            </a:pathLst>
          </a:custGeom>
          <a:blipFill>
            <a:blip r:embed="rId8"/>
            <a:stretch>
              <a:fillRect t="-1487" b="-1487"/>
            </a:stretch>
          </a:blipFill>
        </p:spPr>
      </p:sp>
      <p:sp>
        <p:nvSpPr>
          <p:cNvPr id="12" name="TextBox 12"/>
          <p:cNvSpPr txBox="1"/>
          <p:nvPr/>
        </p:nvSpPr>
        <p:spPr>
          <a:xfrm>
            <a:off x="1794780" y="6654340"/>
            <a:ext cx="15464520" cy="1476375"/>
          </a:xfrm>
          <a:prstGeom prst="rect">
            <a:avLst/>
          </a:prstGeom>
        </p:spPr>
        <p:txBody>
          <a:bodyPr lIns="0" tIns="0" rIns="0" bIns="0" rtlCol="0" anchor="t">
            <a:spAutoFit/>
          </a:bodyPr>
          <a:lstStyle/>
          <a:p>
            <a:pPr algn="just">
              <a:lnSpc>
                <a:spcPts val="5999"/>
              </a:lnSpc>
            </a:pPr>
            <a:r>
              <a:rPr lang="en-US" sz="3999">
                <a:solidFill>
                  <a:srgbClr val="FFFFFF"/>
                </a:solidFill>
                <a:latin typeface="Arial"/>
                <a:ea typeface="Arial"/>
                <a:cs typeface="Arial"/>
                <a:sym typeface="Arial"/>
              </a:rPr>
              <a:t>Kết nối thiết bị thông minh: Tích hợp đồng bộ dữ liệu sức khỏe thực tế từ các thiết bị đeo thông minh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033">
                <a:alpha val="100000"/>
              </a:srgbClr>
            </a:gs>
            <a:gs pos="100000">
              <a:srgbClr val="143993">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13159"/>
            <a:ext cx="2779059" cy="2222253"/>
          </a:xfrm>
          <a:custGeom>
            <a:avLst/>
            <a:gdLst/>
            <a:ahLst/>
            <a:cxnLst/>
            <a:rect l="l" t="t" r="r" b="b"/>
            <a:pathLst>
              <a:path w="2779059" h="2222253">
                <a:moveTo>
                  <a:pt x="0" y="0"/>
                </a:moveTo>
                <a:lnTo>
                  <a:pt x="2779059" y="0"/>
                </a:lnTo>
                <a:lnTo>
                  <a:pt x="2779059" y="2222253"/>
                </a:lnTo>
                <a:lnTo>
                  <a:pt x="0" y="2222253"/>
                </a:lnTo>
                <a:lnTo>
                  <a:pt x="0" y="0"/>
                </a:lnTo>
                <a:close/>
              </a:path>
            </a:pathLst>
          </a:custGeom>
          <a:blipFill>
            <a:blip r:embed="rId2"/>
            <a:stretch>
              <a:fillRect/>
            </a:stretch>
          </a:blipFill>
        </p:spPr>
      </p:sp>
      <p:sp>
        <p:nvSpPr>
          <p:cNvPr id="3" name="Freeform 3"/>
          <p:cNvSpPr/>
          <p:nvPr/>
        </p:nvSpPr>
        <p:spPr>
          <a:xfrm>
            <a:off x="-163514" y="0"/>
            <a:ext cx="18451514" cy="10287000"/>
          </a:xfrm>
          <a:custGeom>
            <a:avLst/>
            <a:gdLst/>
            <a:ahLst/>
            <a:cxnLst/>
            <a:rect l="l" t="t" r="r" b="b"/>
            <a:pathLst>
              <a:path w="18451514" h="10287000">
                <a:moveTo>
                  <a:pt x="0" y="0"/>
                </a:moveTo>
                <a:lnTo>
                  <a:pt x="18451514" y="0"/>
                </a:lnTo>
                <a:lnTo>
                  <a:pt x="18451514" y="10287000"/>
                </a:lnTo>
                <a:lnTo>
                  <a:pt x="0" y="10287000"/>
                </a:lnTo>
                <a:lnTo>
                  <a:pt x="0" y="0"/>
                </a:lnTo>
                <a:close/>
              </a:path>
            </a:pathLst>
          </a:custGeom>
          <a:blipFill>
            <a:blip r:embed="rId3">
              <a:alphaModFix amt="19999"/>
            </a:blip>
            <a:stretch>
              <a:fillRect t="-17344" b="-17344"/>
            </a:stretch>
          </a:blipFill>
        </p:spPr>
      </p:sp>
      <p:sp>
        <p:nvSpPr>
          <p:cNvPr id="4" name="Freeform 4"/>
          <p:cNvSpPr/>
          <p:nvPr/>
        </p:nvSpPr>
        <p:spPr>
          <a:xfrm>
            <a:off x="3184096" y="2713203"/>
            <a:ext cx="11919808" cy="5266388"/>
          </a:xfrm>
          <a:custGeom>
            <a:avLst/>
            <a:gdLst/>
            <a:ahLst/>
            <a:cxnLst/>
            <a:rect l="l" t="t" r="r" b="b"/>
            <a:pathLst>
              <a:path w="11919808" h="5266388">
                <a:moveTo>
                  <a:pt x="0" y="0"/>
                </a:moveTo>
                <a:lnTo>
                  <a:pt x="11919808" y="0"/>
                </a:lnTo>
                <a:lnTo>
                  <a:pt x="11919808" y="5266388"/>
                </a:lnTo>
                <a:lnTo>
                  <a:pt x="0" y="526638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4248110" y="550231"/>
            <a:ext cx="3298216" cy="2914424"/>
          </a:xfrm>
          <a:custGeom>
            <a:avLst/>
            <a:gdLst/>
            <a:ahLst/>
            <a:cxnLst/>
            <a:rect l="l" t="t" r="r" b="b"/>
            <a:pathLst>
              <a:path w="3298216" h="2914424">
                <a:moveTo>
                  <a:pt x="0" y="0"/>
                </a:moveTo>
                <a:lnTo>
                  <a:pt x="3298216" y="0"/>
                </a:lnTo>
                <a:lnTo>
                  <a:pt x="3298216" y="2914423"/>
                </a:lnTo>
                <a:lnTo>
                  <a:pt x="0" y="2914423"/>
                </a:lnTo>
                <a:lnTo>
                  <a:pt x="0" y="0"/>
                </a:lnTo>
                <a:close/>
              </a:path>
            </a:pathLst>
          </a:custGeom>
          <a:blipFill>
            <a:blip r:embed="rId5"/>
            <a:stretch>
              <a:fillRect/>
            </a:stretch>
          </a:blipFill>
        </p:spPr>
      </p:sp>
      <p:sp>
        <p:nvSpPr>
          <p:cNvPr id="6" name="Freeform 6"/>
          <p:cNvSpPr/>
          <p:nvPr/>
        </p:nvSpPr>
        <p:spPr>
          <a:xfrm>
            <a:off x="1621872" y="1696437"/>
            <a:ext cx="3698612" cy="4114800"/>
          </a:xfrm>
          <a:custGeom>
            <a:avLst/>
            <a:gdLst/>
            <a:ahLst/>
            <a:cxnLst/>
            <a:rect l="l" t="t" r="r" b="b"/>
            <a:pathLst>
              <a:path w="3698612" h="4114800">
                <a:moveTo>
                  <a:pt x="0" y="0"/>
                </a:moveTo>
                <a:lnTo>
                  <a:pt x="3698611" y="0"/>
                </a:lnTo>
                <a:lnTo>
                  <a:pt x="3698611"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rot="-10800000">
            <a:off x="13254598" y="4820081"/>
            <a:ext cx="3698612" cy="4114800"/>
          </a:xfrm>
          <a:custGeom>
            <a:avLst/>
            <a:gdLst/>
            <a:ahLst/>
            <a:cxnLst/>
            <a:rect l="l" t="t" r="r" b="b"/>
            <a:pathLst>
              <a:path w="3698612" h="4114800">
                <a:moveTo>
                  <a:pt x="0" y="0"/>
                </a:moveTo>
                <a:lnTo>
                  <a:pt x="3698612" y="0"/>
                </a:lnTo>
                <a:lnTo>
                  <a:pt x="3698612"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3694729" y="419100"/>
            <a:ext cx="10898543" cy="1123950"/>
          </a:xfrm>
          <a:prstGeom prst="rect">
            <a:avLst/>
          </a:prstGeom>
        </p:spPr>
        <p:txBody>
          <a:bodyPr lIns="0" tIns="0" rIns="0" bIns="0" rtlCol="0" anchor="t">
            <a:spAutoFit/>
          </a:bodyPr>
          <a:lstStyle/>
          <a:p>
            <a:pPr algn="ctr">
              <a:lnSpc>
                <a:spcPts val="4500"/>
              </a:lnSpc>
            </a:pPr>
            <a:r>
              <a:rPr lang="en-US" sz="3000">
                <a:solidFill>
                  <a:srgbClr val="FFFFFF"/>
                </a:solidFill>
                <a:latin typeface="Sigmar One"/>
                <a:ea typeface="Sigmar One"/>
                <a:cs typeface="Sigmar One"/>
                <a:sym typeface="Sigmar One"/>
              </a:rPr>
              <a:t>TRƯỜNG ĐẠI HỌC MỞ THÀNH PHỐ HỒ CHÍ MINH</a:t>
            </a:r>
          </a:p>
          <a:p>
            <a:pPr algn="ctr">
              <a:lnSpc>
                <a:spcPts val="4500"/>
              </a:lnSpc>
            </a:pPr>
            <a:r>
              <a:rPr lang="en-US" sz="3000">
                <a:solidFill>
                  <a:srgbClr val="FFFFFF"/>
                </a:solidFill>
                <a:latin typeface="Sigmar One"/>
                <a:ea typeface="Sigmar One"/>
                <a:cs typeface="Sigmar One"/>
                <a:sym typeface="Sigmar One"/>
              </a:rPr>
              <a:t>KHOA CÔNG NGHỆ THÔNG TIN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754</Words>
  <Application>Microsoft Office PowerPoint</Application>
  <PresentationFormat>Custom</PresentationFormat>
  <Paragraphs>75</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Calibri</vt:lpstr>
      <vt:lpstr>Sigmar One</vt:lpstr>
      <vt:lpstr>Arial</vt:lpstr>
      <vt:lpstr>Arial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dc:title>
  <cp:lastModifiedBy>ADMIN</cp:lastModifiedBy>
  <cp:revision>2</cp:revision>
  <dcterms:created xsi:type="dcterms:W3CDTF">2006-08-16T00:00:00Z</dcterms:created>
  <dcterms:modified xsi:type="dcterms:W3CDTF">2026-05-30T08:36:27Z</dcterms:modified>
  <dc:identifier>DAHKYIfaTzI</dc:identifier>
</cp:coreProperties>
</file>